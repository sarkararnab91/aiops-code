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5" d="100"/>
          <a:sy n="95" d="100"/>
        </p:scale>
        <p:origin x="396"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781458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Text 0"/>
          <p:cNvSpPr/>
          <p:nvPr/>
        </p:nvSpPr>
        <p:spPr>
          <a:xfrm>
            <a:off x="571500" y="1438433"/>
            <a:ext cx="3714750" cy="1097235"/>
          </a:xfrm>
          <a:prstGeom prst="rect">
            <a:avLst/>
          </a:prstGeom>
          <a:noFill/>
          <a:ln/>
        </p:spPr>
        <p:txBody>
          <a:bodyPr wrap="square" lIns="0" tIns="0" rIns="0" bIns="0" rtlCol="0" anchor="t">
            <a:spAutoFit/>
          </a:bodyPr>
          <a:lstStyle/>
          <a:p>
            <a:pPr marL="0" indent="0" algn="l">
              <a:lnSpc>
                <a:spcPts val="4300"/>
              </a:lnSpc>
              <a:buNone/>
            </a:pPr>
            <a:r>
              <a:rPr lang="en-US" sz="3294" b="1" kern="0" spc="-1" dirty="0">
                <a:solidFill>
                  <a:srgbClr val="1A1A1A"/>
                </a:solidFill>
              </a:rPr>
              <a:t>The Future of IT Operations</a:t>
            </a:r>
            <a:endParaRPr lang="en-US" sz="3294" dirty="0"/>
          </a:p>
        </p:txBody>
      </p:sp>
      <p:sp>
        <p:nvSpPr>
          <p:cNvPr id="4" name="Text 1"/>
          <p:cNvSpPr/>
          <p:nvPr/>
        </p:nvSpPr>
        <p:spPr>
          <a:xfrm>
            <a:off x="571500" y="2678543"/>
            <a:ext cx="3714750" cy="594327"/>
          </a:xfrm>
          <a:prstGeom prst="rect">
            <a:avLst/>
          </a:prstGeom>
          <a:noFill/>
          <a:ln/>
        </p:spPr>
        <p:txBody>
          <a:bodyPr wrap="square" lIns="0" tIns="0" rIns="0" bIns="0" rtlCol="0" anchor="t">
            <a:spAutoFit/>
          </a:bodyPr>
          <a:lstStyle/>
          <a:p>
            <a:pPr marL="0" indent="0" algn="l">
              <a:lnSpc>
                <a:spcPts val="2300"/>
              </a:lnSpc>
              <a:buNone/>
            </a:pPr>
            <a:r>
              <a:rPr lang="en-US" sz="1704" dirty="0">
                <a:solidFill>
                  <a:srgbClr val="333333"/>
                </a:solidFill>
              </a:rPr>
              <a:t>An Introduction to ITOps and AIOps</a:t>
            </a:r>
            <a:endParaRPr lang="en-US" sz="1704" dirty="0"/>
          </a:p>
        </p:txBody>
      </p:sp>
      <p:sp>
        <p:nvSpPr>
          <p:cNvPr id="5" name="Text 2"/>
          <p:cNvSpPr/>
          <p:nvPr/>
        </p:nvSpPr>
        <p:spPr>
          <a:xfrm>
            <a:off x="571500" y="3558620"/>
            <a:ext cx="3714750" cy="389334"/>
          </a:xfrm>
          <a:prstGeom prst="rect">
            <a:avLst/>
          </a:prstGeom>
          <a:noFill/>
          <a:ln/>
        </p:spPr>
        <p:txBody>
          <a:bodyPr wrap="square" lIns="0" tIns="0" rIns="0" bIns="0" rtlCol="0" anchor="t">
            <a:spAutoFit/>
          </a:bodyPr>
          <a:lstStyle/>
          <a:p>
            <a:pPr marL="0" indent="0" algn="l">
              <a:lnSpc>
                <a:spcPts val="1400"/>
              </a:lnSpc>
              <a:buNone/>
            </a:pPr>
            <a:r>
              <a:rPr lang="en-US" sz="1050" dirty="0">
                <a:solidFill>
                  <a:srgbClr val="FF4500"/>
                </a:solidFill>
              </a:rPr>
              <a:t>Transforming IT Operations with Intelligence and Automation</a:t>
            </a:r>
            <a:endParaRPr lang="en-US" sz="1050" dirty="0"/>
          </a:p>
        </p:txBody>
      </p:sp>
      <p:pic>
        <p:nvPicPr>
          <p:cNvPr id="6" name="Image 1" descr="preencoded.png"/>
          <p:cNvPicPr>
            <a:picLocks noChangeAspect="1"/>
          </p:cNvPicPr>
          <p:nvPr/>
        </p:nvPicPr>
        <p:blipFill>
          <a:blip r:embed="rId4"/>
          <a:stretch>
            <a:fillRect/>
          </a:stretch>
        </p:blipFill>
        <p:spPr>
          <a:xfrm>
            <a:off x="4572000" y="0"/>
            <a:ext cx="4572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Shape 0"/>
          <p:cNvSpPr/>
          <p:nvPr/>
        </p:nvSpPr>
        <p:spPr>
          <a:xfrm>
            <a:off x="0" y="0"/>
            <a:ext cx="3000375" cy="5143500"/>
          </a:xfrm>
          <a:prstGeom prst="rect">
            <a:avLst/>
          </a:prstGeom>
          <a:solidFill>
            <a:srgbClr val="FFFFFF"/>
          </a:solidFill>
          <a:ln/>
        </p:spPr>
      </p:sp>
      <p:pic>
        <p:nvPicPr>
          <p:cNvPr id="4" name="Image 1" descr="preencoded.png"/>
          <p:cNvPicPr>
            <a:picLocks noChangeAspect="1"/>
          </p:cNvPicPr>
          <p:nvPr/>
        </p:nvPicPr>
        <p:blipFill>
          <a:blip r:embed="rId4"/>
          <a:stretch>
            <a:fillRect/>
          </a:stretch>
        </p:blipFill>
        <p:spPr>
          <a:xfrm>
            <a:off x="0" y="0"/>
            <a:ext cx="3000375" cy="5143500"/>
          </a:xfrm>
          <a:prstGeom prst="rect">
            <a:avLst/>
          </a:prstGeom>
        </p:spPr>
      </p:pic>
      <p:sp>
        <p:nvSpPr>
          <p:cNvPr id="5" name="Text 1"/>
          <p:cNvSpPr/>
          <p:nvPr/>
        </p:nvSpPr>
        <p:spPr>
          <a:xfrm>
            <a:off x="3429000" y="592931"/>
            <a:ext cx="5286375" cy="594327"/>
          </a:xfrm>
          <a:prstGeom prst="rect">
            <a:avLst/>
          </a:prstGeom>
          <a:noFill/>
          <a:ln/>
        </p:spPr>
        <p:txBody>
          <a:bodyPr wrap="square" lIns="0" tIns="0" rIns="0" bIns="0" rtlCol="0" anchor="t">
            <a:spAutoFit/>
          </a:bodyPr>
          <a:lstStyle/>
          <a:p>
            <a:pPr marL="0" indent="0" algn="l">
              <a:lnSpc>
                <a:spcPts val="2300"/>
              </a:lnSpc>
              <a:buNone/>
            </a:pPr>
            <a:r>
              <a:rPr lang="en-US" sz="1602" b="1" dirty="0">
                <a:solidFill>
                  <a:srgbClr val="1A1A1A"/>
                </a:solidFill>
              </a:rPr>
              <a:t>What is ITOps?
The Engine of Your IT</a:t>
            </a:r>
            <a:endParaRPr lang="en-US" sz="1602" dirty="0"/>
          </a:p>
        </p:txBody>
      </p:sp>
      <p:sp>
        <p:nvSpPr>
          <p:cNvPr id="6" name="Text 2"/>
          <p:cNvSpPr/>
          <p:nvPr/>
        </p:nvSpPr>
        <p:spPr>
          <a:xfrm>
            <a:off x="3429000" y="1365852"/>
            <a:ext cx="5286375" cy="731453"/>
          </a:xfrm>
          <a:prstGeom prst="rect">
            <a:avLst/>
          </a:prstGeom>
          <a:noFill/>
          <a:ln/>
        </p:spPr>
        <p:txBody>
          <a:bodyPr wrap="square" lIns="0" tIns="0" rIns="0" bIns="0" rtlCol="0" anchor="t">
            <a:spAutoFit/>
          </a:bodyPr>
          <a:lstStyle/>
          <a:p>
            <a:pPr marL="0" indent="0" algn="l">
              <a:lnSpc>
                <a:spcPts val="1400"/>
              </a:lnSpc>
              <a:buNone/>
            </a:pPr>
            <a:r>
              <a:rPr lang="en-US" sz="834" dirty="0">
                <a:solidFill>
                  <a:srgbClr val="333333"/>
                </a:solidFill>
              </a:rPr>
              <a:t>IT Operations (ITOps) is the central nervous system of an organization's IT. It encompasses all the processes and services for managing, maintaining, and supporting the IT infrastructure. The primary goal of ITOps is to ensure the smooth and efficient operation of all IT systems and services, which are critical for business continuity and success.</a:t>
            </a:r>
            <a:endParaRPr lang="en-US" sz="834" dirty="0"/>
          </a:p>
        </p:txBody>
      </p:sp>
      <p:sp>
        <p:nvSpPr>
          <p:cNvPr id="7" name="Text 3"/>
          <p:cNvSpPr/>
          <p:nvPr/>
        </p:nvSpPr>
        <p:spPr>
          <a:xfrm>
            <a:off x="3429000" y="2311617"/>
            <a:ext cx="71438" cy="214313"/>
          </a:xfrm>
          <a:prstGeom prst="rect">
            <a:avLst/>
          </a:prstGeom>
          <a:noFill/>
          <a:ln/>
        </p:spPr>
        <p:txBody>
          <a:bodyPr wrap="none" lIns="0" tIns="0" rIns="0" bIns="0" rtlCol="0" anchor="t">
            <a:spAutoFit/>
          </a:bodyPr>
          <a:lstStyle/>
          <a:p>
            <a:pPr marL="0" indent="0" algn="l">
              <a:lnSpc>
                <a:spcPts val="1700"/>
              </a:lnSpc>
              <a:buNone/>
            </a:pPr>
            <a:r>
              <a:rPr lang="en-US" sz="1050" dirty="0">
                <a:solidFill>
                  <a:srgbClr val="0052CC"/>
                </a:solidFill>
              </a:rPr>
              <a:t>▸</a:t>
            </a:r>
            <a:endParaRPr lang="en-US" sz="1050" dirty="0"/>
          </a:p>
        </p:txBody>
      </p:sp>
      <p:sp>
        <p:nvSpPr>
          <p:cNvPr id="8" name="Text 4"/>
          <p:cNvSpPr/>
          <p:nvPr/>
        </p:nvSpPr>
        <p:spPr>
          <a:xfrm>
            <a:off x="3643313" y="2318761"/>
            <a:ext cx="1349220" cy="155377"/>
          </a:xfrm>
          <a:prstGeom prst="rect">
            <a:avLst/>
          </a:prstGeom>
          <a:noFill/>
          <a:ln/>
        </p:spPr>
        <p:txBody>
          <a:bodyPr wrap="none" lIns="0" tIns="0" rIns="0" bIns="0" rtlCol="0" anchor="t">
            <a:spAutoFit/>
          </a:bodyPr>
          <a:lstStyle/>
          <a:p>
            <a:pPr marL="0" indent="0" algn="l">
              <a:lnSpc>
                <a:spcPts val="1400"/>
              </a:lnSpc>
              <a:buNone/>
            </a:pPr>
            <a:r>
              <a:rPr lang="en-US" sz="784" b="1" dirty="0">
                <a:solidFill>
                  <a:srgbClr val="1A1A1A"/>
                </a:solidFill>
              </a:rPr>
              <a:t>Resource Management:</a:t>
            </a:r>
            <a:endParaRPr lang="en-US" sz="784" dirty="0"/>
          </a:p>
        </p:txBody>
      </p:sp>
      <p:sp>
        <p:nvSpPr>
          <p:cNvPr id="9" name="Text 5"/>
          <p:cNvSpPr/>
          <p:nvPr/>
        </p:nvSpPr>
        <p:spPr>
          <a:xfrm>
            <a:off x="4992532" y="2318761"/>
            <a:ext cx="3251606" cy="155377"/>
          </a:xfrm>
          <a:prstGeom prst="rect">
            <a:avLst/>
          </a:prstGeom>
          <a:noFill/>
          <a:ln/>
        </p:spPr>
        <p:txBody>
          <a:bodyPr wrap="none" lIns="0" tIns="0" rIns="0" bIns="0" rtlCol="0" anchor="t">
            <a:spAutoFit/>
          </a:bodyPr>
          <a:lstStyle/>
          <a:p>
            <a:pPr marL="0" indent="0" algn="l">
              <a:lnSpc>
                <a:spcPts val="1400"/>
              </a:lnSpc>
              <a:buNone/>
            </a:pPr>
            <a:r>
              <a:rPr lang="en-US" sz="834" dirty="0">
                <a:solidFill>
                  <a:srgbClr val="333333"/>
                </a:solidFill>
              </a:rPr>
              <a:t>Overseeing hardware, software, and network infrastructure.</a:t>
            </a:r>
            <a:endParaRPr lang="en-US" sz="834" dirty="0"/>
          </a:p>
        </p:txBody>
      </p:sp>
      <p:sp>
        <p:nvSpPr>
          <p:cNvPr id="10" name="Text 6"/>
          <p:cNvSpPr/>
          <p:nvPr/>
        </p:nvSpPr>
        <p:spPr>
          <a:xfrm>
            <a:off x="3429000" y="2611655"/>
            <a:ext cx="71438" cy="214313"/>
          </a:xfrm>
          <a:prstGeom prst="rect">
            <a:avLst/>
          </a:prstGeom>
          <a:noFill/>
          <a:ln/>
        </p:spPr>
        <p:txBody>
          <a:bodyPr wrap="none" lIns="0" tIns="0" rIns="0" bIns="0" rtlCol="0" anchor="t">
            <a:spAutoFit/>
          </a:bodyPr>
          <a:lstStyle/>
          <a:p>
            <a:pPr marL="0" indent="0" algn="l">
              <a:lnSpc>
                <a:spcPts val="1700"/>
              </a:lnSpc>
              <a:buNone/>
            </a:pPr>
            <a:r>
              <a:rPr lang="en-US" sz="1050" dirty="0">
                <a:solidFill>
                  <a:srgbClr val="0052CC"/>
                </a:solidFill>
              </a:rPr>
              <a:t>▸</a:t>
            </a:r>
            <a:endParaRPr lang="en-US" sz="1050" dirty="0"/>
          </a:p>
        </p:txBody>
      </p:sp>
      <p:sp>
        <p:nvSpPr>
          <p:cNvPr id="11" name="Text 7"/>
          <p:cNvSpPr/>
          <p:nvPr/>
        </p:nvSpPr>
        <p:spPr>
          <a:xfrm>
            <a:off x="3643313" y="2618798"/>
            <a:ext cx="1628775" cy="155377"/>
          </a:xfrm>
          <a:prstGeom prst="rect">
            <a:avLst/>
          </a:prstGeom>
          <a:noFill/>
          <a:ln/>
        </p:spPr>
        <p:txBody>
          <a:bodyPr wrap="none" lIns="0" tIns="0" rIns="0" bIns="0" rtlCol="0" anchor="t">
            <a:spAutoFit/>
          </a:bodyPr>
          <a:lstStyle/>
          <a:p>
            <a:pPr marL="0" indent="0" algn="l">
              <a:lnSpc>
                <a:spcPts val="1400"/>
              </a:lnSpc>
              <a:buNone/>
            </a:pPr>
            <a:r>
              <a:rPr lang="en-US" sz="784" b="1" dirty="0">
                <a:solidFill>
                  <a:srgbClr val="1A1A1A"/>
                </a:solidFill>
              </a:rPr>
              <a:t>Infrastructure Optimization:</a:t>
            </a:r>
            <a:endParaRPr lang="en-US" sz="784" dirty="0"/>
          </a:p>
        </p:txBody>
      </p:sp>
      <p:sp>
        <p:nvSpPr>
          <p:cNvPr id="12" name="Text 8"/>
          <p:cNvSpPr/>
          <p:nvPr/>
        </p:nvSpPr>
        <p:spPr>
          <a:xfrm>
            <a:off x="5272088" y="2618798"/>
            <a:ext cx="2375520" cy="155377"/>
          </a:xfrm>
          <a:prstGeom prst="rect">
            <a:avLst/>
          </a:prstGeom>
          <a:noFill/>
          <a:ln/>
        </p:spPr>
        <p:txBody>
          <a:bodyPr wrap="none" lIns="0" tIns="0" rIns="0" bIns="0" rtlCol="0" anchor="t">
            <a:spAutoFit/>
          </a:bodyPr>
          <a:lstStyle/>
          <a:p>
            <a:pPr marL="0" indent="0" algn="l">
              <a:lnSpc>
                <a:spcPts val="1400"/>
              </a:lnSpc>
              <a:buNone/>
            </a:pPr>
            <a:r>
              <a:rPr lang="en-US" sz="834" dirty="0">
                <a:solidFill>
                  <a:srgbClr val="333333"/>
                </a:solidFill>
              </a:rPr>
              <a:t>Enhancing performance and cost-efficiency.</a:t>
            </a:r>
            <a:endParaRPr lang="en-US" sz="834" dirty="0"/>
          </a:p>
        </p:txBody>
      </p:sp>
      <p:sp>
        <p:nvSpPr>
          <p:cNvPr id="13" name="Text 9"/>
          <p:cNvSpPr/>
          <p:nvPr/>
        </p:nvSpPr>
        <p:spPr>
          <a:xfrm>
            <a:off x="3429000" y="2911692"/>
            <a:ext cx="71438" cy="214313"/>
          </a:xfrm>
          <a:prstGeom prst="rect">
            <a:avLst/>
          </a:prstGeom>
          <a:noFill/>
          <a:ln/>
        </p:spPr>
        <p:txBody>
          <a:bodyPr wrap="none" lIns="0" tIns="0" rIns="0" bIns="0" rtlCol="0" anchor="t">
            <a:spAutoFit/>
          </a:bodyPr>
          <a:lstStyle/>
          <a:p>
            <a:pPr marL="0" indent="0" algn="l">
              <a:lnSpc>
                <a:spcPts val="1700"/>
              </a:lnSpc>
              <a:buNone/>
            </a:pPr>
            <a:r>
              <a:rPr lang="en-US" sz="1050" dirty="0">
                <a:solidFill>
                  <a:srgbClr val="0052CC"/>
                </a:solidFill>
              </a:rPr>
              <a:t>▸</a:t>
            </a:r>
            <a:endParaRPr lang="en-US" sz="1050" dirty="0"/>
          </a:p>
        </p:txBody>
      </p:sp>
      <p:sp>
        <p:nvSpPr>
          <p:cNvPr id="14" name="Text 10"/>
          <p:cNvSpPr/>
          <p:nvPr/>
        </p:nvSpPr>
        <p:spPr>
          <a:xfrm>
            <a:off x="3643313" y="2918836"/>
            <a:ext cx="1454479" cy="155377"/>
          </a:xfrm>
          <a:prstGeom prst="rect">
            <a:avLst/>
          </a:prstGeom>
          <a:noFill/>
          <a:ln/>
        </p:spPr>
        <p:txBody>
          <a:bodyPr wrap="none" lIns="0" tIns="0" rIns="0" bIns="0" rtlCol="0" anchor="t">
            <a:spAutoFit/>
          </a:bodyPr>
          <a:lstStyle/>
          <a:p>
            <a:pPr marL="0" indent="0" algn="l">
              <a:lnSpc>
                <a:spcPts val="1400"/>
              </a:lnSpc>
              <a:buNone/>
            </a:pPr>
            <a:r>
              <a:rPr lang="en-US" sz="784" b="1" dirty="0">
                <a:solidFill>
                  <a:srgbClr val="1A1A1A"/>
                </a:solidFill>
              </a:rPr>
              <a:t>Application Performance:</a:t>
            </a:r>
            <a:endParaRPr lang="en-US" sz="784" dirty="0"/>
          </a:p>
        </p:txBody>
      </p:sp>
      <p:sp>
        <p:nvSpPr>
          <p:cNvPr id="15" name="Text 11"/>
          <p:cNvSpPr/>
          <p:nvPr/>
        </p:nvSpPr>
        <p:spPr>
          <a:xfrm>
            <a:off x="5097791" y="2918836"/>
            <a:ext cx="2734187" cy="155377"/>
          </a:xfrm>
          <a:prstGeom prst="rect">
            <a:avLst/>
          </a:prstGeom>
          <a:noFill/>
          <a:ln/>
        </p:spPr>
        <p:txBody>
          <a:bodyPr wrap="none" lIns="0" tIns="0" rIns="0" bIns="0" rtlCol="0" anchor="t">
            <a:spAutoFit/>
          </a:bodyPr>
          <a:lstStyle/>
          <a:p>
            <a:pPr marL="0" indent="0" algn="l">
              <a:lnSpc>
                <a:spcPts val="1400"/>
              </a:lnSpc>
              <a:buNone/>
            </a:pPr>
            <a:r>
              <a:rPr lang="en-US" sz="834" dirty="0">
                <a:solidFill>
                  <a:srgbClr val="333333"/>
                </a:solidFill>
              </a:rPr>
              <a:t>Ensuring applications meet business expectations.</a:t>
            </a:r>
            <a:endParaRPr lang="en-US" sz="834" dirty="0"/>
          </a:p>
        </p:txBody>
      </p:sp>
      <p:sp>
        <p:nvSpPr>
          <p:cNvPr id="16" name="Text 12"/>
          <p:cNvSpPr/>
          <p:nvPr/>
        </p:nvSpPr>
        <p:spPr>
          <a:xfrm>
            <a:off x="3429000" y="3211730"/>
            <a:ext cx="71438" cy="214313"/>
          </a:xfrm>
          <a:prstGeom prst="rect">
            <a:avLst/>
          </a:prstGeom>
          <a:noFill/>
          <a:ln/>
        </p:spPr>
        <p:txBody>
          <a:bodyPr wrap="none" lIns="0" tIns="0" rIns="0" bIns="0" rtlCol="0" anchor="t">
            <a:spAutoFit/>
          </a:bodyPr>
          <a:lstStyle/>
          <a:p>
            <a:pPr marL="0" indent="0" algn="l">
              <a:lnSpc>
                <a:spcPts val="1700"/>
              </a:lnSpc>
              <a:buNone/>
            </a:pPr>
            <a:r>
              <a:rPr lang="en-US" sz="1050" dirty="0">
                <a:solidFill>
                  <a:srgbClr val="0052CC"/>
                </a:solidFill>
              </a:rPr>
              <a:t>▸</a:t>
            </a:r>
            <a:endParaRPr lang="en-US" sz="1050" dirty="0"/>
          </a:p>
        </p:txBody>
      </p:sp>
      <p:sp>
        <p:nvSpPr>
          <p:cNvPr id="17" name="Text 13"/>
          <p:cNvSpPr/>
          <p:nvPr/>
        </p:nvSpPr>
        <p:spPr>
          <a:xfrm>
            <a:off x="3643313" y="3218873"/>
            <a:ext cx="1235478" cy="155377"/>
          </a:xfrm>
          <a:prstGeom prst="rect">
            <a:avLst/>
          </a:prstGeom>
          <a:noFill/>
          <a:ln/>
        </p:spPr>
        <p:txBody>
          <a:bodyPr wrap="none" lIns="0" tIns="0" rIns="0" bIns="0" rtlCol="0" anchor="t">
            <a:spAutoFit/>
          </a:bodyPr>
          <a:lstStyle/>
          <a:p>
            <a:pPr marL="0" indent="0" algn="l">
              <a:lnSpc>
                <a:spcPts val="1400"/>
              </a:lnSpc>
              <a:buNone/>
            </a:pPr>
            <a:r>
              <a:rPr lang="en-US" sz="784" b="1" dirty="0">
                <a:solidFill>
                  <a:srgbClr val="1A1A1A"/>
                </a:solidFill>
              </a:rPr>
              <a:t>Service Desk Support:</a:t>
            </a:r>
            <a:endParaRPr lang="en-US" sz="784" dirty="0"/>
          </a:p>
        </p:txBody>
      </p:sp>
      <p:sp>
        <p:nvSpPr>
          <p:cNvPr id="18" name="Text 14"/>
          <p:cNvSpPr/>
          <p:nvPr/>
        </p:nvSpPr>
        <p:spPr>
          <a:xfrm>
            <a:off x="4878791" y="3218873"/>
            <a:ext cx="2483290" cy="155377"/>
          </a:xfrm>
          <a:prstGeom prst="rect">
            <a:avLst/>
          </a:prstGeom>
          <a:noFill/>
          <a:ln/>
        </p:spPr>
        <p:txBody>
          <a:bodyPr wrap="none" lIns="0" tIns="0" rIns="0" bIns="0" rtlCol="0" anchor="t">
            <a:spAutoFit/>
          </a:bodyPr>
          <a:lstStyle/>
          <a:p>
            <a:pPr marL="0" indent="0" algn="l">
              <a:lnSpc>
                <a:spcPts val="1400"/>
              </a:lnSpc>
              <a:buNone/>
            </a:pPr>
            <a:r>
              <a:rPr lang="en-US" sz="834" dirty="0">
                <a:solidFill>
                  <a:srgbClr val="333333"/>
                </a:solidFill>
              </a:rPr>
              <a:t>Providing timely technical assistance to users.</a:t>
            </a:r>
            <a:endParaRPr lang="en-US" sz="834" dirty="0"/>
          </a:p>
        </p:txBody>
      </p:sp>
      <p:sp>
        <p:nvSpPr>
          <p:cNvPr id="19" name="Text 15"/>
          <p:cNvSpPr/>
          <p:nvPr/>
        </p:nvSpPr>
        <p:spPr>
          <a:xfrm>
            <a:off x="3429000" y="3511767"/>
            <a:ext cx="71438" cy="214313"/>
          </a:xfrm>
          <a:prstGeom prst="rect">
            <a:avLst/>
          </a:prstGeom>
          <a:noFill/>
          <a:ln/>
        </p:spPr>
        <p:txBody>
          <a:bodyPr wrap="none" lIns="0" tIns="0" rIns="0" bIns="0" rtlCol="0" anchor="t">
            <a:spAutoFit/>
          </a:bodyPr>
          <a:lstStyle/>
          <a:p>
            <a:pPr marL="0" indent="0" algn="l">
              <a:lnSpc>
                <a:spcPts val="1700"/>
              </a:lnSpc>
              <a:buNone/>
            </a:pPr>
            <a:r>
              <a:rPr lang="en-US" sz="1050" dirty="0">
                <a:solidFill>
                  <a:srgbClr val="0052CC"/>
                </a:solidFill>
              </a:rPr>
              <a:t>▸</a:t>
            </a:r>
            <a:endParaRPr lang="en-US" sz="1050" dirty="0"/>
          </a:p>
        </p:txBody>
      </p:sp>
      <p:sp>
        <p:nvSpPr>
          <p:cNvPr id="20" name="Text 16"/>
          <p:cNvSpPr/>
          <p:nvPr/>
        </p:nvSpPr>
        <p:spPr>
          <a:xfrm>
            <a:off x="3643313" y="3518911"/>
            <a:ext cx="1916367" cy="155377"/>
          </a:xfrm>
          <a:prstGeom prst="rect">
            <a:avLst/>
          </a:prstGeom>
          <a:noFill/>
          <a:ln/>
        </p:spPr>
        <p:txBody>
          <a:bodyPr wrap="none" lIns="0" tIns="0" rIns="0" bIns="0" rtlCol="0" anchor="t">
            <a:spAutoFit/>
          </a:bodyPr>
          <a:lstStyle/>
          <a:p>
            <a:pPr marL="0" indent="0" algn="l">
              <a:lnSpc>
                <a:spcPts val="1400"/>
              </a:lnSpc>
              <a:buNone/>
            </a:pPr>
            <a:r>
              <a:rPr lang="en-US" sz="784" b="1" dirty="0">
                <a:solidFill>
                  <a:srgbClr val="1A1A1A"/>
                </a:solidFill>
              </a:rPr>
              <a:t>Incident &amp; Security Management:</a:t>
            </a:r>
            <a:endParaRPr lang="en-US" sz="784" dirty="0"/>
          </a:p>
        </p:txBody>
      </p:sp>
      <p:sp>
        <p:nvSpPr>
          <p:cNvPr id="21" name="Text 17"/>
          <p:cNvSpPr/>
          <p:nvPr/>
        </p:nvSpPr>
        <p:spPr>
          <a:xfrm>
            <a:off x="5097792" y="3531817"/>
            <a:ext cx="4777299" cy="326827"/>
          </a:xfrm>
          <a:prstGeom prst="rect">
            <a:avLst/>
          </a:prstGeom>
          <a:noFill/>
          <a:ln/>
        </p:spPr>
        <p:txBody>
          <a:bodyPr wrap="square" lIns="0" tIns="0" rIns="0" bIns="0" rtlCol="0" anchor="t">
            <a:spAutoFit/>
          </a:bodyPr>
          <a:lstStyle/>
          <a:p>
            <a:pPr marL="0" indent="0" algn="l">
              <a:lnSpc>
                <a:spcPts val="1400"/>
              </a:lnSpc>
              <a:buNone/>
            </a:pPr>
            <a:r>
              <a:rPr lang="en-US" sz="834" dirty="0">
                <a:solidFill>
                  <a:srgbClr val="333333"/>
                </a:solidFill>
              </a:rPr>
              <a:t>Safeguarding the IT environment and ensuring rapid recovery.</a:t>
            </a:r>
            <a:endParaRPr lang="en-US" sz="834"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Text 0"/>
          <p:cNvSpPr/>
          <p:nvPr/>
        </p:nvSpPr>
        <p:spPr>
          <a:xfrm>
            <a:off x="428625" y="592931"/>
            <a:ext cx="5429250" cy="297163"/>
          </a:xfrm>
          <a:prstGeom prst="rect">
            <a:avLst/>
          </a:prstGeom>
          <a:noFill/>
          <a:ln/>
        </p:spPr>
        <p:txBody>
          <a:bodyPr wrap="none" lIns="0" tIns="0" rIns="0" bIns="0" rtlCol="0" anchor="t">
            <a:spAutoFit/>
          </a:bodyPr>
          <a:lstStyle/>
          <a:p>
            <a:pPr marL="0" indent="0" algn="l">
              <a:lnSpc>
                <a:spcPts val="2300"/>
              </a:lnSpc>
              <a:buNone/>
            </a:pPr>
            <a:r>
              <a:rPr lang="en-US" sz="1602" b="1" dirty="0">
                <a:solidFill>
                  <a:srgbClr val="1A1A1A"/>
                </a:solidFill>
              </a:rPr>
              <a:t>Core Functions of IT Operations</a:t>
            </a:r>
            <a:endParaRPr lang="en-US" sz="1602" dirty="0"/>
          </a:p>
        </p:txBody>
      </p:sp>
      <p:sp>
        <p:nvSpPr>
          <p:cNvPr id="4" name="Shape 1"/>
          <p:cNvSpPr/>
          <p:nvPr/>
        </p:nvSpPr>
        <p:spPr>
          <a:xfrm>
            <a:off x="428625" y="1104407"/>
            <a:ext cx="5429250" cy="307181"/>
          </a:xfrm>
          <a:prstGeom prst="rect">
            <a:avLst/>
          </a:prstGeom>
          <a:solidFill>
            <a:srgbClr val="E8E8E8"/>
          </a:solidFill>
          <a:ln/>
        </p:spPr>
      </p:sp>
      <p:sp>
        <p:nvSpPr>
          <p:cNvPr id="5" name="Shape 2"/>
          <p:cNvSpPr/>
          <p:nvPr/>
        </p:nvSpPr>
        <p:spPr>
          <a:xfrm>
            <a:off x="428625" y="1104407"/>
            <a:ext cx="1523907" cy="307181"/>
          </a:xfrm>
          <a:prstGeom prst="rect">
            <a:avLst/>
          </a:prstGeom>
          <a:solidFill>
            <a:srgbClr val="1A1A1A"/>
          </a:solidFill>
          <a:ln/>
        </p:spPr>
      </p:sp>
      <p:sp>
        <p:nvSpPr>
          <p:cNvPr id="6" name="Text 3"/>
          <p:cNvSpPr/>
          <p:nvPr/>
        </p:nvSpPr>
        <p:spPr>
          <a:xfrm>
            <a:off x="428625" y="1104407"/>
            <a:ext cx="1523907" cy="307181"/>
          </a:xfrm>
          <a:prstGeom prst="rect">
            <a:avLst/>
          </a:prstGeom>
          <a:noFill/>
          <a:ln/>
        </p:spPr>
        <p:txBody>
          <a:bodyPr wrap="square" lIns="127508" tIns="102108" rIns="127508" bIns="102108" rtlCol="0" anchor="ctr">
            <a:spAutoFit/>
          </a:bodyPr>
          <a:lstStyle/>
          <a:p>
            <a:pPr marL="0" indent="0" algn="l">
              <a:lnSpc>
                <a:spcPts val="900"/>
              </a:lnSpc>
              <a:buNone/>
            </a:pPr>
            <a:r>
              <a:rPr lang="en-US" sz="683" b="1" dirty="0">
                <a:solidFill>
                  <a:srgbClr val="F2F2F2"/>
                </a:solidFill>
              </a:rPr>
              <a:t>Function</a:t>
            </a:r>
            <a:endParaRPr lang="en-US" sz="683" dirty="0"/>
          </a:p>
        </p:txBody>
      </p:sp>
      <p:sp>
        <p:nvSpPr>
          <p:cNvPr id="7" name="Shape 4"/>
          <p:cNvSpPr/>
          <p:nvPr/>
        </p:nvSpPr>
        <p:spPr>
          <a:xfrm>
            <a:off x="1952532" y="1104407"/>
            <a:ext cx="3905343" cy="307181"/>
          </a:xfrm>
          <a:prstGeom prst="rect">
            <a:avLst/>
          </a:prstGeom>
          <a:solidFill>
            <a:srgbClr val="1A1A1A"/>
          </a:solidFill>
          <a:ln/>
        </p:spPr>
      </p:sp>
      <p:sp>
        <p:nvSpPr>
          <p:cNvPr id="8" name="Text 5"/>
          <p:cNvSpPr/>
          <p:nvPr/>
        </p:nvSpPr>
        <p:spPr>
          <a:xfrm>
            <a:off x="1952532" y="1104407"/>
            <a:ext cx="3905343" cy="307181"/>
          </a:xfrm>
          <a:prstGeom prst="rect">
            <a:avLst/>
          </a:prstGeom>
          <a:noFill/>
          <a:ln/>
        </p:spPr>
        <p:txBody>
          <a:bodyPr wrap="square" lIns="127508" tIns="102108" rIns="127508" bIns="102108" rtlCol="0" anchor="ctr">
            <a:spAutoFit/>
          </a:bodyPr>
          <a:lstStyle/>
          <a:p>
            <a:pPr marL="0" indent="0" algn="l">
              <a:lnSpc>
                <a:spcPts val="900"/>
              </a:lnSpc>
              <a:buNone/>
            </a:pPr>
            <a:r>
              <a:rPr lang="en-US" sz="683" b="1" dirty="0">
                <a:solidFill>
                  <a:srgbClr val="F2F2F2"/>
                </a:solidFill>
              </a:rPr>
              <a:t>Description</a:t>
            </a:r>
            <a:endParaRPr lang="en-US" sz="683" dirty="0"/>
          </a:p>
        </p:txBody>
      </p:sp>
      <p:sp>
        <p:nvSpPr>
          <p:cNvPr id="9" name="Shape 6"/>
          <p:cNvSpPr/>
          <p:nvPr/>
        </p:nvSpPr>
        <p:spPr>
          <a:xfrm>
            <a:off x="428625" y="1411588"/>
            <a:ext cx="5429250" cy="455023"/>
          </a:xfrm>
          <a:prstGeom prst="rect">
            <a:avLst/>
          </a:prstGeom>
          <a:solidFill>
            <a:srgbClr val="E8E8E8"/>
          </a:solidFill>
          <a:ln/>
        </p:spPr>
      </p:sp>
      <p:sp>
        <p:nvSpPr>
          <p:cNvPr id="10" name="Text 7"/>
          <p:cNvSpPr/>
          <p:nvPr/>
        </p:nvSpPr>
        <p:spPr>
          <a:xfrm>
            <a:off x="535781" y="1569086"/>
            <a:ext cx="1134461" cy="135731"/>
          </a:xfrm>
          <a:prstGeom prst="rect">
            <a:avLst/>
          </a:prstGeom>
          <a:noFill/>
          <a:ln/>
        </p:spPr>
        <p:txBody>
          <a:bodyPr wrap="none" lIns="0" tIns="0" rIns="0" bIns="0" rtlCol="0" anchor="t">
            <a:spAutoFit/>
          </a:bodyPr>
          <a:lstStyle/>
          <a:p>
            <a:pPr marL="0" indent="0" algn="l">
              <a:lnSpc>
                <a:spcPts val="1100"/>
              </a:lnSpc>
              <a:buNone/>
            </a:pPr>
            <a:r>
              <a:rPr lang="en-US" sz="683" b="1" dirty="0">
                <a:solidFill>
                  <a:srgbClr val="0052CC"/>
                </a:solidFill>
              </a:rPr>
              <a:t>Network Management</a:t>
            </a:r>
            <a:endParaRPr lang="en-US" sz="683" dirty="0"/>
          </a:p>
        </p:txBody>
      </p:sp>
      <p:sp>
        <p:nvSpPr>
          <p:cNvPr id="11" name="Text 8"/>
          <p:cNvSpPr/>
          <p:nvPr/>
        </p:nvSpPr>
        <p:spPr>
          <a:xfrm>
            <a:off x="1952532" y="1411588"/>
            <a:ext cx="3905343" cy="455023"/>
          </a:xfrm>
          <a:prstGeom prst="rect">
            <a:avLst/>
          </a:prstGeom>
          <a:noFill/>
          <a:ln/>
        </p:spPr>
        <p:txBody>
          <a:bodyPr wrap="square" lIns="127508" tIns="102108" rIns="127508" bIns="102108" rtlCol="0" anchor="ctr">
            <a:spAutoFit/>
          </a:bodyPr>
          <a:lstStyle/>
          <a:p>
            <a:pPr marL="0" indent="0" algn="l">
              <a:lnSpc>
                <a:spcPts val="1100"/>
              </a:lnSpc>
              <a:buNone/>
            </a:pPr>
            <a:r>
              <a:rPr lang="en-US" sz="727" dirty="0">
                <a:solidFill>
                  <a:srgbClr val="333333"/>
                </a:solidFill>
              </a:rPr>
              <a:t>Ensures the availability, performance, and security of the organization's network infrastructure.</a:t>
            </a:r>
            <a:endParaRPr lang="en-US" sz="727" dirty="0"/>
          </a:p>
        </p:txBody>
      </p:sp>
      <p:sp>
        <p:nvSpPr>
          <p:cNvPr id="12" name="Shape 9"/>
          <p:cNvSpPr/>
          <p:nvPr/>
        </p:nvSpPr>
        <p:spPr>
          <a:xfrm>
            <a:off x="428625" y="1866612"/>
            <a:ext cx="5429250" cy="458595"/>
          </a:xfrm>
          <a:prstGeom prst="rect">
            <a:avLst/>
          </a:prstGeom>
          <a:solidFill>
            <a:srgbClr val="FFFFFF"/>
          </a:solidFill>
          <a:ln/>
        </p:spPr>
      </p:sp>
      <p:sp>
        <p:nvSpPr>
          <p:cNvPr id="13" name="Text 10"/>
          <p:cNvSpPr/>
          <p:nvPr/>
        </p:nvSpPr>
        <p:spPr>
          <a:xfrm>
            <a:off x="535781" y="1957694"/>
            <a:ext cx="777106" cy="275732"/>
          </a:xfrm>
          <a:prstGeom prst="rect">
            <a:avLst/>
          </a:prstGeom>
          <a:noFill/>
          <a:ln/>
        </p:spPr>
        <p:txBody>
          <a:bodyPr wrap="square" lIns="0" tIns="0" rIns="0" bIns="0" rtlCol="0" anchor="t">
            <a:spAutoFit/>
          </a:bodyPr>
          <a:lstStyle/>
          <a:p>
            <a:pPr marL="0" indent="0" algn="l">
              <a:lnSpc>
                <a:spcPts val="1100"/>
              </a:lnSpc>
              <a:buNone/>
            </a:pPr>
            <a:r>
              <a:rPr lang="en-US" sz="683" b="1" dirty="0">
                <a:solidFill>
                  <a:srgbClr val="0052CC"/>
                </a:solidFill>
              </a:rPr>
              <a:t>Server &amp; Device Management</a:t>
            </a:r>
            <a:endParaRPr lang="en-US" sz="683" dirty="0"/>
          </a:p>
        </p:txBody>
      </p:sp>
      <p:sp>
        <p:nvSpPr>
          <p:cNvPr id="14" name="Text 11"/>
          <p:cNvSpPr/>
          <p:nvPr/>
        </p:nvSpPr>
        <p:spPr>
          <a:xfrm>
            <a:off x="1952532" y="1866612"/>
            <a:ext cx="3905343" cy="458595"/>
          </a:xfrm>
          <a:prstGeom prst="rect">
            <a:avLst/>
          </a:prstGeom>
          <a:noFill/>
          <a:ln/>
        </p:spPr>
        <p:txBody>
          <a:bodyPr wrap="square" lIns="127508" tIns="102108" rIns="127508" bIns="102108" rtlCol="0" anchor="ctr">
            <a:spAutoFit/>
          </a:bodyPr>
          <a:lstStyle/>
          <a:p>
            <a:pPr marL="0" indent="0" algn="l">
              <a:lnSpc>
                <a:spcPts val="1100"/>
              </a:lnSpc>
              <a:buNone/>
            </a:pPr>
            <a:r>
              <a:rPr lang="en-US" sz="727" dirty="0">
                <a:solidFill>
                  <a:srgbClr val="333333"/>
                </a:solidFill>
              </a:rPr>
              <a:t>Manages the lifecycle of physical and virtual servers, as well as end-user devices.</a:t>
            </a:r>
            <a:endParaRPr lang="en-US" sz="727" dirty="0"/>
          </a:p>
        </p:txBody>
      </p:sp>
      <p:sp>
        <p:nvSpPr>
          <p:cNvPr id="15" name="Shape 12"/>
          <p:cNvSpPr/>
          <p:nvPr/>
        </p:nvSpPr>
        <p:spPr>
          <a:xfrm>
            <a:off x="428625" y="2325207"/>
            <a:ext cx="5429250" cy="458595"/>
          </a:xfrm>
          <a:prstGeom prst="rect">
            <a:avLst/>
          </a:prstGeom>
          <a:solidFill>
            <a:srgbClr val="E8E8E8"/>
          </a:solidFill>
          <a:ln/>
        </p:spPr>
      </p:sp>
      <p:sp>
        <p:nvSpPr>
          <p:cNvPr id="16" name="Text 13"/>
          <p:cNvSpPr/>
          <p:nvPr/>
        </p:nvSpPr>
        <p:spPr>
          <a:xfrm>
            <a:off x="535781" y="2486276"/>
            <a:ext cx="1265672" cy="135731"/>
          </a:xfrm>
          <a:prstGeom prst="rect">
            <a:avLst/>
          </a:prstGeom>
          <a:noFill/>
          <a:ln/>
        </p:spPr>
        <p:txBody>
          <a:bodyPr wrap="none" lIns="0" tIns="0" rIns="0" bIns="0" rtlCol="0" anchor="t">
            <a:spAutoFit/>
          </a:bodyPr>
          <a:lstStyle/>
          <a:p>
            <a:pPr marL="0" indent="0" algn="l">
              <a:lnSpc>
                <a:spcPts val="1100"/>
              </a:lnSpc>
              <a:buNone/>
            </a:pPr>
            <a:r>
              <a:rPr lang="en-US" sz="683" b="1" dirty="0">
                <a:solidFill>
                  <a:srgbClr val="0052CC"/>
                </a:solidFill>
              </a:rPr>
              <a:t>Application Management</a:t>
            </a:r>
            <a:endParaRPr lang="en-US" sz="683" dirty="0"/>
          </a:p>
        </p:txBody>
      </p:sp>
      <p:sp>
        <p:nvSpPr>
          <p:cNvPr id="17" name="Text 14"/>
          <p:cNvSpPr/>
          <p:nvPr/>
        </p:nvSpPr>
        <p:spPr>
          <a:xfrm>
            <a:off x="1952532" y="2325207"/>
            <a:ext cx="3905343" cy="458595"/>
          </a:xfrm>
          <a:prstGeom prst="rect">
            <a:avLst/>
          </a:prstGeom>
          <a:noFill/>
          <a:ln/>
        </p:spPr>
        <p:txBody>
          <a:bodyPr wrap="square" lIns="127508" tIns="102108" rIns="127508" bIns="102108" rtlCol="0" anchor="ctr">
            <a:spAutoFit/>
          </a:bodyPr>
          <a:lstStyle/>
          <a:p>
            <a:pPr marL="0" indent="0" algn="l">
              <a:lnSpc>
                <a:spcPts val="1100"/>
              </a:lnSpc>
              <a:buNone/>
            </a:pPr>
            <a:r>
              <a:rPr lang="en-US" sz="727" dirty="0">
                <a:solidFill>
                  <a:srgbClr val="333333"/>
                </a:solidFill>
              </a:rPr>
              <a:t>Guarantees that all software applications are available, reliable, and performing optimally.</a:t>
            </a:r>
            <a:endParaRPr lang="en-US" sz="727" dirty="0"/>
          </a:p>
        </p:txBody>
      </p:sp>
      <p:sp>
        <p:nvSpPr>
          <p:cNvPr id="18" name="Shape 15"/>
          <p:cNvSpPr/>
          <p:nvPr/>
        </p:nvSpPr>
        <p:spPr>
          <a:xfrm>
            <a:off x="428625" y="2783802"/>
            <a:ext cx="5429250" cy="458595"/>
          </a:xfrm>
          <a:prstGeom prst="rect">
            <a:avLst/>
          </a:prstGeom>
          <a:solidFill>
            <a:srgbClr val="FFFFFF"/>
          </a:solidFill>
          <a:ln/>
        </p:spPr>
      </p:sp>
      <p:sp>
        <p:nvSpPr>
          <p:cNvPr id="19" name="Text 16"/>
          <p:cNvSpPr/>
          <p:nvPr/>
        </p:nvSpPr>
        <p:spPr>
          <a:xfrm>
            <a:off x="535781" y="2944871"/>
            <a:ext cx="1169956" cy="135731"/>
          </a:xfrm>
          <a:prstGeom prst="rect">
            <a:avLst/>
          </a:prstGeom>
          <a:noFill/>
          <a:ln/>
        </p:spPr>
        <p:txBody>
          <a:bodyPr wrap="none" lIns="0" tIns="0" rIns="0" bIns="0" rtlCol="0" anchor="t">
            <a:spAutoFit/>
          </a:bodyPr>
          <a:lstStyle/>
          <a:p>
            <a:pPr marL="0" indent="0" algn="l">
              <a:lnSpc>
                <a:spcPts val="1100"/>
              </a:lnSpc>
              <a:buNone/>
            </a:pPr>
            <a:r>
              <a:rPr lang="en-US" sz="683" b="1" dirty="0">
                <a:solidFill>
                  <a:srgbClr val="0052CC"/>
                </a:solidFill>
              </a:rPr>
              <a:t>Help Desk/Service Desk</a:t>
            </a:r>
            <a:endParaRPr lang="en-US" sz="683" dirty="0"/>
          </a:p>
        </p:txBody>
      </p:sp>
      <p:sp>
        <p:nvSpPr>
          <p:cNvPr id="20" name="Text 17"/>
          <p:cNvSpPr/>
          <p:nvPr/>
        </p:nvSpPr>
        <p:spPr>
          <a:xfrm>
            <a:off x="1952532" y="2783802"/>
            <a:ext cx="3905343" cy="458595"/>
          </a:xfrm>
          <a:prstGeom prst="rect">
            <a:avLst/>
          </a:prstGeom>
          <a:noFill/>
          <a:ln/>
        </p:spPr>
        <p:txBody>
          <a:bodyPr wrap="square" lIns="127508" tIns="102108" rIns="127508" bIns="102108" rtlCol="0" anchor="ctr">
            <a:spAutoFit/>
          </a:bodyPr>
          <a:lstStyle/>
          <a:p>
            <a:pPr marL="0" indent="0" algn="l">
              <a:lnSpc>
                <a:spcPts val="1100"/>
              </a:lnSpc>
              <a:buNone/>
            </a:pPr>
            <a:r>
              <a:rPr lang="en-US" sz="727" dirty="0">
                <a:solidFill>
                  <a:srgbClr val="333333"/>
                </a:solidFill>
              </a:rPr>
              <a:t>Acts as the single point of contact for users to report IT issues and request services.</a:t>
            </a:r>
            <a:endParaRPr lang="en-US" sz="727" dirty="0"/>
          </a:p>
        </p:txBody>
      </p:sp>
      <p:sp>
        <p:nvSpPr>
          <p:cNvPr id="21" name="Shape 18"/>
          <p:cNvSpPr/>
          <p:nvPr/>
        </p:nvSpPr>
        <p:spPr>
          <a:xfrm>
            <a:off x="428625" y="3242397"/>
            <a:ext cx="5429250" cy="458595"/>
          </a:xfrm>
          <a:prstGeom prst="rect">
            <a:avLst/>
          </a:prstGeom>
          <a:solidFill>
            <a:srgbClr val="E8E8E8"/>
          </a:solidFill>
          <a:ln/>
        </p:spPr>
      </p:sp>
      <p:sp>
        <p:nvSpPr>
          <p:cNvPr id="22" name="Text 19"/>
          <p:cNvSpPr/>
          <p:nvPr/>
        </p:nvSpPr>
        <p:spPr>
          <a:xfrm>
            <a:off x="535781" y="3403467"/>
            <a:ext cx="990637" cy="135731"/>
          </a:xfrm>
          <a:prstGeom prst="rect">
            <a:avLst/>
          </a:prstGeom>
          <a:noFill/>
          <a:ln/>
        </p:spPr>
        <p:txBody>
          <a:bodyPr wrap="none" lIns="0" tIns="0" rIns="0" bIns="0" rtlCol="0" anchor="t">
            <a:spAutoFit/>
          </a:bodyPr>
          <a:lstStyle/>
          <a:p>
            <a:pPr marL="0" indent="0" algn="l">
              <a:lnSpc>
                <a:spcPts val="1100"/>
              </a:lnSpc>
              <a:buNone/>
            </a:pPr>
            <a:r>
              <a:rPr lang="en-US" sz="683" b="1" dirty="0">
                <a:solidFill>
                  <a:srgbClr val="0052CC"/>
                </a:solidFill>
              </a:rPr>
              <a:t>Security Operations</a:t>
            </a:r>
            <a:endParaRPr lang="en-US" sz="683" dirty="0"/>
          </a:p>
        </p:txBody>
      </p:sp>
      <p:sp>
        <p:nvSpPr>
          <p:cNvPr id="23" name="Text 20"/>
          <p:cNvSpPr/>
          <p:nvPr/>
        </p:nvSpPr>
        <p:spPr>
          <a:xfrm>
            <a:off x="1952532" y="3242397"/>
            <a:ext cx="3905343" cy="458595"/>
          </a:xfrm>
          <a:prstGeom prst="rect">
            <a:avLst/>
          </a:prstGeom>
          <a:noFill/>
          <a:ln/>
        </p:spPr>
        <p:txBody>
          <a:bodyPr wrap="square" lIns="127508" tIns="102108" rIns="127508" bIns="102108" rtlCol="0" anchor="ctr">
            <a:spAutoFit/>
          </a:bodyPr>
          <a:lstStyle/>
          <a:p>
            <a:pPr marL="0" indent="0" algn="l">
              <a:lnSpc>
                <a:spcPts val="1100"/>
              </a:lnSpc>
              <a:buNone/>
            </a:pPr>
            <a:r>
              <a:rPr lang="en-US" sz="727" dirty="0">
                <a:solidFill>
                  <a:srgbClr val="333333"/>
                </a:solidFill>
              </a:rPr>
              <a:t>Protects the organization's data and IT assets from internal and external threats.</a:t>
            </a:r>
            <a:endParaRPr lang="en-US" sz="727" dirty="0"/>
          </a:p>
        </p:txBody>
      </p:sp>
      <p:sp>
        <p:nvSpPr>
          <p:cNvPr id="24" name="Shape 21"/>
          <p:cNvSpPr/>
          <p:nvPr/>
        </p:nvSpPr>
        <p:spPr>
          <a:xfrm>
            <a:off x="6143625" y="0"/>
            <a:ext cx="3000375" cy="5143500"/>
          </a:xfrm>
          <a:prstGeom prst="rect">
            <a:avLst/>
          </a:prstGeom>
          <a:solidFill>
            <a:srgbClr val="FFFFFF"/>
          </a:solidFill>
          <a:ln/>
        </p:spPr>
      </p:sp>
      <p:pic>
        <p:nvPicPr>
          <p:cNvPr id="25" name="Image 1" descr="preencoded.png"/>
          <p:cNvPicPr>
            <a:picLocks noChangeAspect="1"/>
          </p:cNvPicPr>
          <p:nvPr/>
        </p:nvPicPr>
        <p:blipFill>
          <a:blip r:embed="rId4"/>
          <a:stretch>
            <a:fillRect/>
          </a:stretch>
        </p:blipFill>
        <p:spPr>
          <a:xfrm>
            <a:off x="6143625" y="0"/>
            <a:ext cx="3000375"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Text 0"/>
          <p:cNvSpPr/>
          <p:nvPr/>
        </p:nvSpPr>
        <p:spPr>
          <a:xfrm>
            <a:off x="428625" y="521494"/>
            <a:ext cx="8286750" cy="297163"/>
          </a:xfrm>
          <a:prstGeom prst="rect">
            <a:avLst/>
          </a:prstGeom>
          <a:noFill/>
          <a:ln/>
        </p:spPr>
        <p:txBody>
          <a:bodyPr wrap="none" lIns="0" tIns="0" rIns="0" bIns="0" rtlCol="0" anchor="t">
            <a:spAutoFit/>
          </a:bodyPr>
          <a:lstStyle/>
          <a:p>
            <a:pPr marL="0" indent="0" algn="l">
              <a:lnSpc>
                <a:spcPts val="2300"/>
              </a:lnSpc>
              <a:buNone/>
            </a:pPr>
            <a:r>
              <a:rPr lang="en-US" sz="1602" b="1" dirty="0">
                <a:solidFill>
                  <a:srgbClr val="1A1A1A"/>
                </a:solidFill>
              </a:rPr>
              <a:t>ITOps Goals: Striving for Operational Excellence</a:t>
            </a:r>
            <a:endParaRPr lang="en-US" sz="1602" dirty="0"/>
          </a:p>
        </p:txBody>
      </p:sp>
      <p:sp>
        <p:nvSpPr>
          <p:cNvPr id="4" name="Shape 1"/>
          <p:cNvSpPr/>
          <p:nvPr/>
        </p:nvSpPr>
        <p:spPr>
          <a:xfrm>
            <a:off x="428625" y="1104407"/>
            <a:ext cx="2619356" cy="1190830"/>
          </a:xfrm>
          <a:prstGeom prst="rect">
            <a:avLst/>
          </a:prstGeom>
          <a:solidFill>
            <a:srgbClr val="FFFFFF"/>
          </a:solidFill>
          <a:ln/>
        </p:spPr>
      </p:sp>
      <p:sp>
        <p:nvSpPr>
          <p:cNvPr id="5" name="Shape 2"/>
          <p:cNvSpPr/>
          <p:nvPr/>
        </p:nvSpPr>
        <p:spPr>
          <a:xfrm>
            <a:off x="428625" y="1104407"/>
            <a:ext cx="28575" cy="1190830"/>
          </a:xfrm>
          <a:prstGeom prst="rect">
            <a:avLst/>
          </a:prstGeom>
          <a:solidFill>
            <a:srgbClr val="0052CC"/>
          </a:solidFill>
          <a:ln/>
        </p:spPr>
      </p:sp>
      <p:sp>
        <p:nvSpPr>
          <p:cNvPr id="6" name="Text 3"/>
          <p:cNvSpPr/>
          <p:nvPr/>
        </p:nvSpPr>
        <p:spPr>
          <a:xfrm>
            <a:off x="642938" y="1318720"/>
            <a:ext cx="2190731" cy="175022"/>
          </a:xfrm>
          <a:prstGeom prst="rect">
            <a:avLst/>
          </a:prstGeom>
          <a:noFill/>
          <a:ln/>
        </p:spPr>
        <p:txBody>
          <a:bodyPr wrap="none" lIns="0" tIns="0" rIns="0" bIns="0" rtlCol="0" anchor="t">
            <a:spAutoFit/>
          </a:bodyPr>
          <a:lstStyle/>
          <a:p>
            <a:pPr marL="0" indent="0" algn="l">
              <a:lnSpc>
                <a:spcPts val="1200"/>
              </a:lnSpc>
              <a:buNone/>
            </a:pPr>
            <a:r>
              <a:rPr lang="en-US" sz="885" b="1" dirty="0">
                <a:solidFill>
                  <a:srgbClr val="1A1A1A"/>
                </a:solidFill>
              </a:rPr>
              <a:t>Efficiency</a:t>
            </a:r>
            <a:endParaRPr lang="en-US" sz="885" dirty="0"/>
          </a:p>
        </p:txBody>
      </p:sp>
      <p:sp>
        <p:nvSpPr>
          <p:cNvPr id="7" name="Text 4"/>
          <p:cNvSpPr/>
          <p:nvPr/>
        </p:nvSpPr>
        <p:spPr>
          <a:xfrm>
            <a:off x="642938" y="1600898"/>
            <a:ext cx="2190731" cy="320018"/>
          </a:xfrm>
          <a:prstGeom prst="rect">
            <a:avLst/>
          </a:prstGeom>
          <a:noFill/>
          <a:ln/>
        </p:spPr>
        <p:txBody>
          <a:bodyPr wrap="square" lIns="0" tIns="0" rIns="0" bIns="0" rtlCol="0" anchor="t">
            <a:spAutoFit/>
          </a:bodyPr>
          <a:lstStyle/>
          <a:p>
            <a:pPr marL="0" indent="0" algn="l">
              <a:lnSpc>
                <a:spcPts val="1300"/>
              </a:lnSpc>
              <a:buNone/>
            </a:pPr>
            <a:r>
              <a:rPr lang="en-US" sz="727" dirty="0">
                <a:solidFill>
                  <a:srgbClr val="333333"/>
                </a:solidFill>
              </a:rPr>
              <a:t>Streamlining processes and automating tasks to reduce manual effort and operational costs.</a:t>
            </a:r>
            <a:endParaRPr lang="en-US" sz="727" dirty="0"/>
          </a:p>
        </p:txBody>
      </p:sp>
      <p:sp>
        <p:nvSpPr>
          <p:cNvPr id="8" name="Shape 5"/>
          <p:cNvSpPr/>
          <p:nvPr/>
        </p:nvSpPr>
        <p:spPr>
          <a:xfrm>
            <a:off x="3262294" y="1104407"/>
            <a:ext cx="2619384" cy="1190830"/>
          </a:xfrm>
          <a:prstGeom prst="rect">
            <a:avLst/>
          </a:prstGeom>
          <a:solidFill>
            <a:srgbClr val="FFFFFF"/>
          </a:solidFill>
          <a:ln/>
        </p:spPr>
      </p:sp>
      <p:sp>
        <p:nvSpPr>
          <p:cNvPr id="9" name="Shape 6"/>
          <p:cNvSpPr/>
          <p:nvPr/>
        </p:nvSpPr>
        <p:spPr>
          <a:xfrm>
            <a:off x="3262294" y="1104407"/>
            <a:ext cx="28575" cy="1190830"/>
          </a:xfrm>
          <a:prstGeom prst="rect">
            <a:avLst/>
          </a:prstGeom>
          <a:solidFill>
            <a:srgbClr val="FF4500"/>
          </a:solidFill>
          <a:ln/>
        </p:spPr>
      </p:sp>
      <p:sp>
        <p:nvSpPr>
          <p:cNvPr id="10" name="Text 7"/>
          <p:cNvSpPr/>
          <p:nvPr/>
        </p:nvSpPr>
        <p:spPr>
          <a:xfrm>
            <a:off x="3476606" y="1318720"/>
            <a:ext cx="2190759" cy="175022"/>
          </a:xfrm>
          <a:prstGeom prst="rect">
            <a:avLst/>
          </a:prstGeom>
          <a:noFill/>
          <a:ln/>
        </p:spPr>
        <p:txBody>
          <a:bodyPr wrap="none" lIns="0" tIns="0" rIns="0" bIns="0" rtlCol="0" anchor="t">
            <a:spAutoFit/>
          </a:bodyPr>
          <a:lstStyle/>
          <a:p>
            <a:pPr marL="0" indent="0" algn="l">
              <a:lnSpc>
                <a:spcPts val="1200"/>
              </a:lnSpc>
              <a:buNone/>
            </a:pPr>
            <a:r>
              <a:rPr lang="en-US" sz="885" b="1" dirty="0">
                <a:solidFill>
                  <a:srgbClr val="1A1A1A"/>
                </a:solidFill>
              </a:rPr>
              <a:t>Reliability</a:t>
            </a:r>
            <a:endParaRPr lang="en-US" sz="885" dirty="0"/>
          </a:p>
        </p:txBody>
      </p:sp>
      <p:sp>
        <p:nvSpPr>
          <p:cNvPr id="11" name="Text 8"/>
          <p:cNvSpPr/>
          <p:nvPr/>
        </p:nvSpPr>
        <p:spPr>
          <a:xfrm>
            <a:off x="3476606" y="1600898"/>
            <a:ext cx="2190759" cy="480027"/>
          </a:xfrm>
          <a:prstGeom prst="rect">
            <a:avLst/>
          </a:prstGeom>
          <a:noFill/>
          <a:ln/>
        </p:spPr>
        <p:txBody>
          <a:bodyPr wrap="square" lIns="0" tIns="0" rIns="0" bIns="0" rtlCol="0" anchor="t">
            <a:spAutoFit/>
          </a:bodyPr>
          <a:lstStyle/>
          <a:p>
            <a:pPr marL="0" indent="0" algn="l">
              <a:lnSpc>
                <a:spcPts val="1300"/>
              </a:lnSpc>
              <a:buNone/>
            </a:pPr>
            <a:r>
              <a:rPr lang="en-US" sz="727" dirty="0">
                <a:solidFill>
                  <a:srgbClr val="333333"/>
                </a:solidFill>
              </a:rPr>
              <a:t>Maximizing the uptime and availability of critical IT services to support business operations.</a:t>
            </a:r>
            <a:endParaRPr lang="en-US" sz="727" dirty="0"/>
          </a:p>
        </p:txBody>
      </p:sp>
      <p:sp>
        <p:nvSpPr>
          <p:cNvPr id="12" name="Shape 9"/>
          <p:cNvSpPr/>
          <p:nvPr/>
        </p:nvSpPr>
        <p:spPr>
          <a:xfrm>
            <a:off x="6095991" y="1104407"/>
            <a:ext cx="2619356" cy="1190830"/>
          </a:xfrm>
          <a:prstGeom prst="rect">
            <a:avLst/>
          </a:prstGeom>
          <a:solidFill>
            <a:srgbClr val="FFFFFF"/>
          </a:solidFill>
          <a:ln/>
        </p:spPr>
      </p:sp>
      <p:sp>
        <p:nvSpPr>
          <p:cNvPr id="13" name="Shape 10"/>
          <p:cNvSpPr/>
          <p:nvPr/>
        </p:nvSpPr>
        <p:spPr>
          <a:xfrm>
            <a:off x="6095991" y="1104407"/>
            <a:ext cx="28575" cy="1190830"/>
          </a:xfrm>
          <a:prstGeom prst="rect">
            <a:avLst/>
          </a:prstGeom>
          <a:solidFill>
            <a:srgbClr val="0052CC"/>
          </a:solidFill>
          <a:ln/>
        </p:spPr>
      </p:sp>
      <p:sp>
        <p:nvSpPr>
          <p:cNvPr id="14" name="Text 11"/>
          <p:cNvSpPr/>
          <p:nvPr/>
        </p:nvSpPr>
        <p:spPr>
          <a:xfrm>
            <a:off x="6310303" y="1318720"/>
            <a:ext cx="2190731" cy="175022"/>
          </a:xfrm>
          <a:prstGeom prst="rect">
            <a:avLst/>
          </a:prstGeom>
          <a:noFill/>
          <a:ln/>
        </p:spPr>
        <p:txBody>
          <a:bodyPr wrap="none" lIns="0" tIns="0" rIns="0" bIns="0" rtlCol="0" anchor="t">
            <a:spAutoFit/>
          </a:bodyPr>
          <a:lstStyle/>
          <a:p>
            <a:pPr marL="0" indent="0" algn="l">
              <a:lnSpc>
                <a:spcPts val="1200"/>
              </a:lnSpc>
              <a:buNone/>
            </a:pPr>
            <a:r>
              <a:rPr lang="en-US" sz="885" b="1" dirty="0">
                <a:solidFill>
                  <a:srgbClr val="1A1A1A"/>
                </a:solidFill>
              </a:rPr>
              <a:t>Productivity</a:t>
            </a:r>
            <a:endParaRPr lang="en-US" sz="885" dirty="0"/>
          </a:p>
        </p:txBody>
      </p:sp>
      <p:sp>
        <p:nvSpPr>
          <p:cNvPr id="15" name="Text 12"/>
          <p:cNvSpPr/>
          <p:nvPr/>
        </p:nvSpPr>
        <p:spPr>
          <a:xfrm>
            <a:off x="6310303" y="1600898"/>
            <a:ext cx="2190731" cy="480027"/>
          </a:xfrm>
          <a:prstGeom prst="rect">
            <a:avLst/>
          </a:prstGeom>
          <a:noFill/>
          <a:ln/>
        </p:spPr>
        <p:txBody>
          <a:bodyPr wrap="square" lIns="0" tIns="0" rIns="0" bIns="0" rtlCol="0" anchor="t">
            <a:spAutoFit/>
          </a:bodyPr>
          <a:lstStyle/>
          <a:p>
            <a:pPr marL="0" indent="0" algn="l">
              <a:lnSpc>
                <a:spcPts val="1300"/>
              </a:lnSpc>
              <a:buNone/>
            </a:pPr>
            <a:r>
              <a:rPr lang="en-US" sz="727" dirty="0">
                <a:solidFill>
                  <a:srgbClr val="333333"/>
                </a:solidFill>
              </a:rPr>
              <a:t>Empowering both IT staff and end-users with reliable and high-performing tools and systems.</a:t>
            </a:r>
            <a:endParaRPr lang="en-US" sz="727" dirty="0"/>
          </a:p>
        </p:txBody>
      </p:sp>
      <p:sp>
        <p:nvSpPr>
          <p:cNvPr id="16" name="Text 13"/>
          <p:cNvSpPr/>
          <p:nvPr/>
        </p:nvSpPr>
        <p:spPr>
          <a:xfrm>
            <a:off x="428625" y="2723862"/>
            <a:ext cx="8286750" cy="175022"/>
          </a:xfrm>
          <a:prstGeom prst="rect">
            <a:avLst/>
          </a:prstGeom>
          <a:noFill/>
          <a:ln/>
        </p:spPr>
        <p:txBody>
          <a:bodyPr wrap="none" lIns="0" tIns="0" rIns="0" bIns="0" rtlCol="0" anchor="t">
            <a:spAutoFit/>
          </a:bodyPr>
          <a:lstStyle/>
          <a:p>
            <a:pPr marL="0" indent="0" algn="l">
              <a:lnSpc>
                <a:spcPts val="1200"/>
              </a:lnSpc>
              <a:buNone/>
            </a:pPr>
            <a:r>
              <a:rPr lang="en-US" sz="885" b="1" dirty="0">
                <a:solidFill>
                  <a:srgbClr val="1A1A1A"/>
                </a:solidFill>
              </a:rPr>
              <a:t>Connecting to SLAs, SLOs, and SLIs</a:t>
            </a:r>
            <a:endParaRPr lang="en-US" sz="885" dirty="0"/>
          </a:p>
        </p:txBody>
      </p:sp>
      <p:sp>
        <p:nvSpPr>
          <p:cNvPr id="17" name="Text 14"/>
          <p:cNvSpPr/>
          <p:nvPr/>
        </p:nvSpPr>
        <p:spPr>
          <a:xfrm>
            <a:off x="428625" y="3077477"/>
            <a:ext cx="8286750" cy="135731"/>
          </a:xfrm>
          <a:prstGeom prst="rect">
            <a:avLst/>
          </a:prstGeom>
          <a:noFill/>
          <a:ln/>
        </p:spPr>
        <p:txBody>
          <a:bodyPr wrap="none" lIns="0" tIns="0" rIns="0" bIns="0" rtlCol="0" anchor="t">
            <a:spAutoFit/>
          </a:bodyPr>
          <a:lstStyle/>
          <a:p>
            <a:pPr marL="0" indent="0" algn="l">
              <a:lnSpc>
                <a:spcPts val="900"/>
              </a:lnSpc>
              <a:buNone/>
            </a:pPr>
            <a:r>
              <a:rPr lang="en-US" sz="683" b="1" dirty="0">
                <a:solidFill>
                  <a:srgbClr val="1A1A1A"/>
                </a:solidFill>
              </a:rPr>
              <a:t>SLAs (Service Level Agreements)</a:t>
            </a:r>
            <a:endParaRPr lang="en-US" sz="683" dirty="0"/>
          </a:p>
        </p:txBody>
      </p:sp>
      <p:sp>
        <p:nvSpPr>
          <p:cNvPr id="18" name="Text 15"/>
          <p:cNvSpPr/>
          <p:nvPr/>
        </p:nvSpPr>
        <p:spPr>
          <a:xfrm>
            <a:off x="428625" y="3270359"/>
            <a:ext cx="8286750" cy="160009"/>
          </a:xfrm>
          <a:prstGeom prst="rect">
            <a:avLst/>
          </a:prstGeom>
          <a:noFill/>
          <a:ln/>
        </p:spPr>
        <p:txBody>
          <a:bodyPr wrap="none" lIns="170053" tIns="0" rIns="0" bIns="0" rtlCol="0" anchor="t">
            <a:spAutoFit/>
          </a:bodyPr>
          <a:lstStyle/>
          <a:p>
            <a:pPr marL="0" indent="0" algn="l">
              <a:lnSpc>
                <a:spcPts val="1300"/>
              </a:lnSpc>
              <a:buNone/>
            </a:pPr>
            <a:r>
              <a:rPr lang="en-US" sz="727" dirty="0">
                <a:solidFill>
                  <a:srgbClr val="333333"/>
                </a:solidFill>
              </a:rPr>
              <a:t>Formal commitments made to end-users or customers about service performance.</a:t>
            </a:r>
            <a:endParaRPr lang="en-US" sz="727" dirty="0"/>
          </a:p>
        </p:txBody>
      </p:sp>
      <p:sp>
        <p:nvSpPr>
          <p:cNvPr id="19" name="Text 16"/>
          <p:cNvSpPr/>
          <p:nvPr/>
        </p:nvSpPr>
        <p:spPr>
          <a:xfrm>
            <a:off x="428625" y="3537524"/>
            <a:ext cx="8286750" cy="135731"/>
          </a:xfrm>
          <a:prstGeom prst="rect">
            <a:avLst/>
          </a:prstGeom>
          <a:noFill/>
          <a:ln/>
        </p:spPr>
        <p:txBody>
          <a:bodyPr wrap="none" lIns="0" tIns="0" rIns="0" bIns="0" rtlCol="0" anchor="t">
            <a:spAutoFit/>
          </a:bodyPr>
          <a:lstStyle/>
          <a:p>
            <a:pPr marL="0" indent="0" algn="l">
              <a:lnSpc>
                <a:spcPts val="900"/>
              </a:lnSpc>
              <a:buNone/>
            </a:pPr>
            <a:r>
              <a:rPr lang="en-US" sz="683" b="1" dirty="0">
                <a:solidFill>
                  <a:srgbClr val="1A1A1A"/>
                </a:solidFill>
              </a:rPr>
              <a:t>SLOs (Service Level Objectives)</a:t>
            </a:r>
            <a:endParaRPr lang="en-US" sz="683" dirty="0"/>
          </a:p>
        </p:txBody>
      </p:sp>
      <p:sp>
        <p:nvSpPr>
          <p:cNvPr id="20" name="Text 17"/>
          <p:cNvSpPr/>
          <p:nvPr/>
        </p:nvSpPr>
        <p:spPr>
          <a:xfrm>
            <a:off x="428625" y="3730405"/>
            <a:ext cx="8286750" cy="160009"/>
          </a:xfrm>
          <a:prstGeom prst="rect">
            <a:avLst/>
          </a:prstGeom>
          <a:noFill/>
          <a:ln/>
        </p:spPr>
        <p:txBody>
          <a:bodyPr wrap="none" lIns="170053" tIns="0" rIns="0" bIns="0" rtlCol="0" anchor="t">
            <a:spAutoFit/>
          </a:bodyPr>
          <a:lstStyle/>
          <a:p>
            <a:pPr marL="0" indent="0" algn="l">
              <a:lnSpc>
                <a:spcPts val="1300"/>
              </a:lnSpc>
              <a:buNone/>
            </a:pPr>
            <a:r>
              <a:rPr lang="en-US" sz="727" dirty="0">
                <a:solidFill>
                  <a:srgbClr val="333333"/>
                </a:solidFill>
              </a:rPr>
              <a:t>Specific, measurable targets that the IT team aims to achieve to meet the SLAs.</a:t>
            </a:r>
            <a:endParaRPr lang="en-US" sz="727" dirty="0"/>
          </a:p>
        </p:txBody>
      </p:sp>
      <p:sp>
        <p:nvSpPr>
          <p:cNvPr id="21" name="Text 18"/>
          <p:cNvSpPr/>
          <p:nvPr/>
        </p:nvSpPr>
        <p:spPr>
          <a:xfrm>
            <a:off x="428625" y="3997570"/>
            <a:ext cx="8286750" cy="135731"/>
          </a:xfrm>
          <a:prstGeom prst="rect">
            <a:avLst/>
          </a:prstGeom>
          <a:noFill/>
          <a:ln/>
        </p:spPr>
        <p:txBody>
          <a:bodyPr wrap="none" lIns="0" tIns="0" rIns="0" bIns="0" rtlCol="0" anchor="t">
            <a:spAutoFit/>
          </a:bodyPr>
          <a:lstStyle/>
          <a:p>
            <a:pPr marL="0" indent="0" algn="l">
              <a:lnSpc>
                <a:spcPts val="900"/>
              </a:lnSpc>
              <a:buNone/>
            </a:pPr>
            <a:r>
              <a:rPr lang="en-US" sz="683" b="1" dirty="0">
                <a:solidFill>
                  <a:srgbClr val="1A1A1A"/>
                </a:solidFill>
              </a:rPr>
              <a:t>SLIs (Service Level Indicators)</a:t>
            </a:r>
            <a:endParaRPr lang="en-US" sz="683" dirty="0"/>
          </a:p>
        </p:txBody>
      </p:sp>
      <p:sp>
        <p:nvSpPr>
          <p:cNvPr id="22" name="Text 19"/>
          <p:cNvSpPr/>
          <p:nvPr/>
        </p:nvSpPr>
        <p:spPr>
          <a:xfrm>
            <a:off x="428625" y="4190451"/>
            <a:ext cx="8286750" cy="160009"/>
          </a:xfrm>
          <a:prstGeom prst="rect">
            <a:avLst/>
          </a:prstGeom>
          <a:noFill/>
          <a:ln/>
        </p:spPr>
        <p:txBody>
          <a:bodyPr wrap="none" lIns="170053" tIns="0" rIns="0" bIns="0" rtlCol="0" anchor="t">
            <a:spAutoFit/>
          </a:bodyPr>
          <a:lstStyle/>
          <a:p>
            <a:pPr marL="0" indent="0" algn="l">
              <a:lnSpc>
                <a:spcPts val="1300"/>
              </a:lnSpc>
              <a:buNone/>
            </a:pPr>
            <a:r>
              <a:rPr lang="en-US" sz="727" dirty="0">
                <a:solidFill>
                  <a:srgbClr val="333333"/>
                </a:solidFill>
              </a:rPr>
              <a:t>The actual metrics used to measure performance against the SLOs (e.g., uptime, response time).</a:t>
            </a:r>
            <a:endParaRPr lang="en-US" sz="727"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Text 0"/>
          <p:cNvSpPr/>
          <p:nvPr/>
        </p:nvSpPr>
        <p:spPr>
          <a:xfrm>
            <a:off x="571500" y="592931"/>
            <a:ext cx="8001000" cy="297163"/>
          </a:xfrm>
          <a:prstGeom prst="rect">
            <a:avLst/>
          </a:prstGeom>
          <a:noFill/>
          <a:ln/>
        </p:spPr>
        <p:txBody>
          <a:bodyPr wrap="none" lIns="0" tIns="0" rIns="0" bIns="0" rtlCol="0" anchor="t">
            <a:spAutoFit/>
          </a:bodyPr>
          <a:lstStyle/>
          <a:p>
            <a:pPr marL="0" indent="0" algn="l">
              <a:lnSpc>
                <a:spcPts val="2300"/>
              </a:lnSpc>
              <a:buNone/>
            </a:pPr>
            <a:r>
              <a:rPr lang="en-US" sz="1602" b="1" dirty="0">
                <a:solidFill>
                  <a:srgbClr val="1A1A1A"/>
                </a:solidFill>
              </a:rPr>
              <a:t>The Mounting Challenges in Modern ITOps</a:t>
            </a:r>
            <a:endParaRPr lang="en-US" sz="1602" dirty="0"/>
          </a:p>
        </p:txBody>
      </p:sp>
      <p:sp>
        <p:nvSpPr>
          <p:cNvPr id="4" name="Shape 1"/>
          <p:cNvSpPr/>
          <p:nvPr/>
        </p:nvSpPr>
        <p:spPr>
          <a:xfrm>
            <a:off x="571500" y="1104407"/>
            <a:ext cx="2571750" cy="1773073"/>
          </a:xfrm>
          <a:prstGeom prst="rect">
            <a:avLst/>
          </a:prstGeom>
          <a:solidFill>
            <a:srgbClr val="FFFFFF"/>
          </a:solidFill>
          <a:ln/>
        </p:spPr>
      </p:sp>
      <p:sp>
        <p:nvSpPr>
          <p:cNvPr id="5" name="Shape 2"/>
          <p:cNvSpPr/>
          <p:nvPr/>
        </p:nvSpPr>
        <p:spPr>
          <a:xfrm>
            <a:off x="571500" y="1104407"/>
            <a:ext cx="28575" cy="1773073"/>
          </a:xfrm>
          <a:prstGeom prst="rect">
            <a:avLst/>
          </a:prstGeom>
          <a:solidFill>
            <a:srgbClr val="0052CC"/>
          </a:solidFill>
          <a:ln/>
        </p:spPr>
      </p:sp>
      <p:sp>
        <p:nvSpPr>
          <p:cNvPr id="6" name="Text 3"/>
          <p:cNvSpPr/>
          <p:nvPr/>
        </p:nvSpPr>
        <p:spPr>
          <a:xfrm>
            <a:off x="685800" y="1218707"/>
            <a:ext cx="2343150" cy="135731"/>
          </a:xfrm>
          <a:prstGeom prst="rect">
            <a:avLst/>
          </a:prstGeom>
          <a:noFill/>
          <a:ln/>
        </p:spPr>
        <p:txBody>
          <a:bodyPr wrap="none" lIns="0" tIns="0" rIns="0" bIns="0" rtlCol="0" anchor="t">
            <a:spAutoFit/>
          </a:bodyPr>
          <a:lstStyle/>
          <a:p>
            <a:pPr marL="0" indent="0" algn="l">
              <a:lnSpc>
                <a:spcPts val="900"/>
              </a:lnSpc>
              <a:buNone/>
            </a:pPr>
            <a:r>
              <a:rPr lang="en-US" sz="683" b="1" kern="0" spc="1" dirty="0">
                <a:solidFill>
                  <a:srgbClr val="0052CC"/>
                </a:solidFill>
              </a:rPr>
              <a:t>Challenge 01</a:t>
            </a:r>
            <a:endParaRPr lang="en-US" sz="683" dirty="0"/>
          </a:p>
        </p:txBody>
      </p:sp>
      <p:sp>
        <p:nvSpPr>
          <p:cNvPr id="7" name="Text 4"/>
          <p:cNvSpPr/>
          <p:nvPr/>
        </p:nvSpPr>
        <p:spPr>
          <a:xfrm>
            <a:off x="685800" y="1411588"/>
            <a:ext cx="2343150" cy="167153"/>
          </a:xfrm>
          <a:prstGeom prst="rect">
            <a:avLst/>
          </a:prstGeom>
          <a:noFill/>
          <a:ln/>
        </p:spPr>
        <p:txBody>
          <a:bodyPr wrap="none" lIns="0" tIns="0" rIns="0" bIns="0" rtlCol="0" anchor="t">
            <a:spAutoFit/>
          </a:bodyPr>
          <a:lstStyle/>
          <a:p>
            <a:pPr marL="0" indent="0" algn="l">
              <a:lnSpc>
                <a:spcPts val="1300"/>
              </a:lnSpc>
              <a:buNone/>
            </a:pPr>
            <a:r>
              <a:rPr lang="en-US" sz="885" b="1" dirty="0">
                <a:solidFill>
                  <a:srgbClr val="1A1A1A"/>
                </a:solidFill>
              </a:rPr>
              <a:t>Increasing Complexity</a:t>
            </a:r>
            <a:endParaRPr lang="en-US" sz="885" dirty="0"/>
          </a:p>
        </p:txBody>
      </p:sp>
      <p:sp>
        <p:nvSpPr>
          <p:cNvPr id="8" name="Text 5"/>
          <p:cNvSpPr/>
          <p:nvPr/>
        </p:nvSpPr>
        <p:spPr>
          <a:xfrm>
            <a:off x="685800" y="1664466"/>
            <a:ext cx="2343150" cy="320018"/>
          </a:xfrm>
          <a:prstGeom prst="rect">
            <a:avLst/>
          </a:prstGeom>
          <a:noFill/>
          <a:ln/>
        </p:spPr>
        <p:txBody>
          <a:bodyPr wrap="square" lIns="0" tIns="0" rIns="0" bIns="0" rtlCol="0" anchor="t">
            <a:spAutoFit/>
          </a:bodyPr>
          <a:lstStyle/>
          <a:p>
            <a:pPr marL="0" indent="0" algn="l">
              <a:lnSpc>
                <a:spcPts val="1300"/>
              </a:lnSpc>
              <a:buNone/>
            </a:pPr>
            <a:r>
              <a:rPr lang="en-US" sz="727" dirty="0">
                <a:solidFill>
                  <a:srgbClr val="333333"/>
                </a:solidFill>
              </a:rPr>
              <a:t>Hybrid/multi-cloud, microservices and IoT create complex, dynamic ecosystems.</a:t>
            </a:r>
            <a:endParaRPr lang="en-US" sz="727" dirty="0"/>
          </a:p>
        </p:txBody>
      </p:sp>
      <p:sp>
        <p:nvSpPr>
          <p:cNvPr id="9" name="Shape 6"/>
          <p:cNvSpPr/>
          <p:nvPr/>
        </p:nvSpPr>
        <p:spPr>
          <a:xfrm>
            <a:off x="3286125" y="1104407"/>
            <a:ext cx="2571750" cy="1773073"/>
          </a:xfrm>
          <a:prstGeom prst="rect">
            <a:avLst/>
          </a:prstGeom>
          <a:solidFill>
            <a:srgbClr val="FFFFFF"/>
          </a:solidFill>
          <a:ln/>
        </p:spPr>
      </p:sp>
      <p:sp>
        <p:nvSpPr>
          <p:cNvPr id="10" name="Shape 7"/>
          <p:cNvSpPr/>
          <p:nvPr/>
        </p:nvSpPr>
        <p:spPr>
          <a:xfrm>
            <a:off x="3286125" y="1104407"/>
            <a:ext cx="28575" cy="1773073"/>
          </a:xfrm>
          <a:prstGeom prst="rect">
            <a:avLst/>
          </a:prstGeom>
          <a:solidFill>
            <a:srgbClr val="FF4500"/>
          </a:solidFill>
          <a:ln/>
        </p:spPr>
      </p:sp>
      <p:sp>
        <p:nvSpPr>
          <p:cNvPr id="11" name="Text 8"/>
          <p:cNvSpPr/>
          <p:nvPr/>
        </p:nvSpPr>
        <p:spPr>
          <a:xfrm>
            <a:off x="3400425" y="1218707"/>
            <a:ext cx="2343150" cy="135731"/>
          </a:xfrm>
          <a:prstGeom prst="rect">
            <a:avLst/>
          </a:prstGeom>
          <a:noFill/>
          <a:ln/>
        </p:spPr>
        <p:txBody>
          <a:bodyPr wrap="none" lIns="0" tIns="0" rIns="0" bIns="0" rtlCol="0" anchor="t">
            <a:spAutoFit/>
          </a:bodyPr>
          <a:lstStyle/>
          <a:p>
            <a:pPr marL="0" indent="0" algn="l">
              <a:lnSpc>
                <a:spcPts val="900"/>
              </a:lnSpc>
              <a:buNone/>
            </a:pPr>
            <a:r>
              <a:rPr lang="en-US" sz="683" b="1" kern="0" spc="1" dirty="0">
                <a:solidFill>
                  <a:srgbClr val="0052CC"/>
                </a:solidFill>
              </a:rPr>
              <a:t>Challenge 02</a:t>
            </a:r>
            <a:endParaRPr lang="en-US" sz="683" dirty="0"/>
          </a:p>
        </p:txBody>
      </p:sp>
      <p:sp>
        <p:nvSpPr>
          <p:cNvPr id="12" name="Text 9"/>
          <p:cNvSpPr/>
          <p:nvPr/>
        </p:nvSpPr>
        <p:spPr>
          <a:xfrm>
            <a:off x="3400425" y="1411588"/>
            <a:ext cx="2343150" cy="167153"/>
          </a:xfrm>
          <a:prstGeom prst="rect">
            <a:avLst/>
          </a:prstGeom>
          <a:noFill/>
          <a:ln/>
        </p:spPr>
        <p:txBody>
          <a:bodyPr wrap="none" lIns="0" tIns="0" rIns="0" bIns="0" rtlCol="0" anchor="t">
            <a:spAutoFit/>
          </a:bodyPr>
          <a:lstStyle/>
          <a:p>
            <a:pPr marL="0" indent="0" algn="l">
              <a:lnSpc>
                <a:spcPts val="1300"/>
              </a:lnSpc>
              <a:buNone/>
            </a:pPr>
            <a:r>
              <a:rPr lang="en-US" sz="885" b="1" dirty="0">
                <a:solidFill>
                  <a:srgbClr val="1A1A1A"/>
                </a:solidFill>
              </a:rPr>
              <a:t>Data Overload</a:t>
            </a:r>
            <a:endParaRPr lang="en-US" sz="885" dirty="0"/>
          </a:p>
        </p:txBody>
      </p:sp>
      <p:sp>
        <p:nvSpPr>
          <p:cNvPr id="13" name="Text 10"/>
          <p:cNvSpPr/>
          <p:nvPr/>
        </p:nvSpPr>
        <p:spPr>
          <a:xfrm>
            <a:off x="3400425" y="1664466"/>
            <a:ext cx="2343150" cy="320018"/>
          </a:xfrm>
          <a:prstGeom prst="rect">
            <a:avLst/>
          </a:prstGeom>
          <a:noFill/>
          <a:ln/>
        </p:spPr>
        <p:txBody>
          <a:bodyPr wrap="square" lIns="0" tIns="0" rIns="0" bIns="0" rtlCol="0" anchor="t">
            <a:spAutoFit/>
          </a:bodyPr>
          <a:lstStyle/>
          <a:p>
            <a:pPr marL="0" indent="0" algn="l">
              <a:lnSpc>
                <a:spcPts val="1300"/>
              </a:lnSpc>
              <a:buNone/>
            </a:pPr>
            <a:r>
              <a:rPr lang="en-US" sz="727" dirty="0">
                <a:solidFill>
                  <a:srgbClr val="333333"/>
                </a:solidFill>
              </a:rPr>
              <a:t>Exponential data growth makes manual analysis impractical.</a:t>
            </a:r>
            <a:endParaRPr lang="en-US" sz="727" dirty="0"/>
          </a:p>
        </p:txBody>
      </p:sp>
      <p:sp>
        <p:nvSpPr>
          <p:cNvPr id="14" name="Shape 11"/>
          <p:cNvSpPr/>
          <p:nvPr/>
        </p:nvSpPr>
        <p:spPr>
          <a:xfrm>
            <a:off x="6000750" y="1104407"/>
            <a:ext cx="2571750" cy="1773073"/>
          </a:xfrm>
          <a:prstGeom prst="rect">
            <a:avLst/>
          </a:prstGeom>
          <a:solidFill>
            <a:srgbClr val="FFFFFF"/>
          </a:solidFill>
          <a:ln/>
        </p:spPr>
      </p:sp>
      <p:sp>
        <p:nvSpPr>
          <p:cNvPr id="15" name="Shape 12"/>
          <p:cNvSpPr/>
          <p:nvPr/>
        </p:nvSpPr>
        <p:spPr>
          <a:xfrm>
            <a:off x="6000750" y="1104407"/>
            <a:ext cx="28575" cy="1773073"/>
          </a:xfrm>
          <a:prstGeom prst="rect">
            <a:avLst/>
          </a:prstGeom>
          <a:solidFill>
            <a:srgbClr val="0052CC"/>
          </a:solidFill>
          <a:ln/>
        </p:spPr>
      </p:sp>
      <p:sp>
        <p:nvSpPr>
          <p:cNvPr id="16" name="Text 13"/>
          <p:cNvSpPr/>
          <p:nvPr/>
        </p:nvSpPr>
        <p:spPr>
          <a:xfrm>
            <a:off x="6115050" y="1218707"/>
            <a:ext cx="2343150" cy="135731"/>
          </a:xfrm>
          <a:prstGeom prst="rect">
            <a:avLst/>
          </a:prstGeom>
          <a:noFill/>
          <a:ln/>
        </p:spPr>
        <p:txBody>
          <a:bodyPr wrap="none" lIns="0" tIns="0" rIns="0" bIns="0" rtlCol="0" anchor="t">
            <a:spAutoFit/>
          </a:bodyPr>
          <a:lstStyle/>
          <a:p>
            <a:pPr marL="0" indent="0" algn="l">
              <a:lnSpc>
                <a:spcPts val="900"/>
              </a:lnSpc>
              <a:buNone/>
            </a:pPr>
            <a:r>
              <a:rPr lang="en-US" sz="683" b="1" kern="0" spc="1" dirty="0">
                <a:solidFill>
                  <a:srgbClr val="0052CC"/>
                </a:solidFill>
              </a:rPr>
              <a:t>Challenge 03</a:t>
            </a:r>
            <a:endParaRPr lang="en-US" sz="683" dirty="0"/>
          </a:p>
        </p:txBody>
      </p:sp>
      <p:sp>
        <p:nvSpPr>
          <p:cNvPr id="17" name="Text 14"/>
          <p:cNvSpPr/>
          <p:nvPr/>
        </p:nvSpPr>
        <p:spPr>
          <a:xfrm>
            <a:off x="6115050" y="1411588"/>
            <a:ext cx="2343150" cy="167153"/>
          </a:xfrm>
          <a:prstGeom prst="rect">
            <a:avLst/>
          </a:prstGeom>
          <a:noFill/>
          <a:ln/>
        </p:spPr>
        <p:txBody>
          <a:bodyPr wrap="none" lIns="0" tIns="0" rIns="0" bIns="0" rtlCol="0" anchor="t">
            <a:spAutoFit/>
          </a:bodyPr>
          <a:lstStyle/>
          <a:p>
            <a:pPr marL="0" indent="0" algn="l">
              <a:lnSpc>
                <a:spcPts val="1300"/>
              </a:lnSpc>
              <a:buNone/>
            </a:pPr>
            <a:r>
              <a:rPr lang="en-US" sz="885" b="1" dirty="0">
                <a:solidFill>
                  <a:srgbClr val="1A1A1A"/>
                </a:solidFill>
              </a:rPr>
              <a:t>Tool Sprawl</a:t>
            </a:r>
            <a:endParaRPr lang="en-US" sz="885" dirty="0"/>
          </a:p>
        </p:txBody>
      </p:sp>
      <p:sp>
        <p:nvSpPr>
          <p:cNvPr id="18" name="Text 15"/>
          <p:cNvSpPr/>
          <p:nvPr/>
        </p:nvSpPr>
        <p:spPr>
          <a:xfrm>
            <a:off x="6115050" y="1664466"/>
            <a:ext cx="2343150" cy="320018"/>
          </a:xfrm>
          <a:prstGeom prst="rect">
            <a:avLst/>
          </a:prstGeom>
          <a:noFill/>
          <a:ln/>
        </p:spPr>
        <p:txBody>
          <a:bodyPr wrap="square" lIns="0" tIns="0" rIns="0" bIns="0" rtlCol="0" anchor="t">
            <a:spAutoFit/>
          </a:bodyPr>
          <a:lstStyle/>
          <a:p>
            <a:pPr marL="0" indent="0" algn="l">
              <a:lnSpc>
                <a:spcPts val="1300"/>
              </a:lnSpc>
              <a:buNone/>
            </a:pPr>
            <a:r>
              <a:rPr lang="en-US" sz="727" dirty="0">
                <a:solidFill>
                  <a:srgbClr val="333333"/>
                </a:solidFill>
              </a:rPr>
              <a:t>Numerous disparate monitoring tools create data silos and fragmentation.</a:t>
            </a:r>
            <a:endParaRPr lang="en-US" sz="727" dirty="0"/>
          </a:p>
        </p:txBody>
      </p:sp>
      <p:sp>
        <p:nvSpPr>
          <p:cNvPr id="19" name="Shape 16"/>
          <p:cNvSpPr/>
          <p:nvPr/>
        </p:nvSpPr>
        <p:spPr>
          <a:xfrm>
            <a:off x="571500" y="3020355"/>
            <a:ext cx="2571750" cy="1773101"/>
          </a:xfrm>
          <a:prstGeom prst="rect">
            <a:avLst/>
          </a:prstGeom>
          <a:solidFill>
            <a:srgbClr val="FFFFFF"/>
          </a:solidFill>
          <a:ln/>
        </p:spPr>
      </p:sp>
      <p:sp>
        <p:nvSpPr>
          <p:cNvPr id="20" name="Shape 17"/>
          <p:cNvSpPr/>
          <p:nvPr/>
        </p:nvSpPr>
        <p:spPr>
          <a:xfrm>
            <a:off x="571500" y="3020355"/>
            <a:ext cx="28575" cy="1773101"/>
          </a:xfrm>
          <a:prstGeom prst="rect">
            <a:avLst/>
          </a:prstGeom>
          <a:solidFill>
            <a:srgbClr val="FF4500"/>
          </a:solidFill>
          <a:ln/>
        </p:spPr>
      </p:sp>
      <p:sp>
        <p:nvSpPr>
          <p:cNvPr id="21" name="Text 18"/>
          <p:cNvSpPr/>
          <p:nvPr/>
        </p:nvSpPr>
        <p:spPr>
          <a:xfrm>
            <a:off x="685800" y="3134655"/>
            <a:ext cx="2343150" cy="135731"/>
          </a:xfrm>
          <a:prstGeom prst="rect">
            <a:avLst/>
          </a:prstGeom>
          <a:noFill/>
          <a:ln/>
        </p:spPr>
        <p:txBody>
          <a:bodyPr wrap="none" lIns="0" tIns="0" rIns="0" bIns="0" rtlCol="0" anchor="t">
            <a:spAutoFit/>
          </a:bodyPr>
          <a:lstStyle/>
          <a:p>
            <a:pPr marL="0" indent="0" algn="l">
              <a:lnSpc>
                <a:spcPts val="900"/>
              </a:lnSpc>
              <a:buNone/>
            </a:pPr>
            <a:r>
              <a:rPr lang="en-US" sz="683" b="1" kern="0" spc="1" dirty="0">
                <a:solidFill>
                  <a:srgbClr val="0052CC"/>
                </a:solidFill>
              </a:rPr>
              <a:t>Challenge 04</a:t>
            </a:r>
            <a:endParaRPr lang="en-US" sz="683" dirty="0"/>
          </a:p>
        </p:txBody>
      </p:sp>
      <p:sp>
        <p:nvSpPr>
          <p:cNvPr id="22" name="Text 19"/>
          <p:cNvSpPr/>
          <p:nvPr/>
        </p:nvSpPr>
        <p:spPr>
          <a:xfrm>
            <a:off x="685800" y="3327536"/>
            <a:ext cx="2343150" cy="167153"/>
          </a:xfrm>
          <a:prstGeom prst="rect">
            <a:avLst/>
          </a:prstGeom>
          <a:noFill/>
          <a:ln/>
        </p:spPr>
        <p:txBody>
          <a:bodyPr wrap="none" lIns="0" tIns="0" rIns="0" bIns="0" rtlCol="0" anchor="t">
            <a:spAutoFit/>
          </a:bodyPr>
          <a:lstStyle/>
          <a:p>
            <a:pPr marL="0" indent="0" algn="l">
              <a:lnSpc>
                <a:spcPts val="1300"/>
              </a:lnSpc>
              <a:buNone/>
            </a:pPr>
            <a:r>
              <a:rPr lang="en-US" sz="885" b="1" dirty="0">
                <a:solidFill>
                  <a:srgbClr val="1A1A1A"/>
                </a:solidFill>
              </a:rPr>
              <a:t>Pressure to Accelerate</a:t>
            </a:r>
            <a:endParaRPr lang="en-US" sz="885" dirty="0"/>
          </a:p>
        </p:txBody>
      </p:sp>
      <p:sp>
        <p:nvSpPr>
          <p:cNvPr id="23" name="Text 20"/>
          <p:cNvSpPr/>
          <p:nvPr/>
        </p:nvSpPr>
        <p:spPr>
          <a:xfrm>
            <a:off x="685800" y="3580414"/>
            <a:ext cx="2343150" cy="320018"/>
          </a:xfrm>
          <a:prstGeom prst="rect">
            <a:avLst/>
          </a:prstGeom>
          <a:noFill/>
          <a:ln/>
        </p:spPr>
        <p:txBody>
          <a:bodyPr wrap="square" lIns="0" tIns="0" rIns="0" bIns="0" rtlCol="0" anchor="t">
            <a:spAutoFit/>
          </a:bodyPr>
          <a:lstStyle/>
          <a:p>
            <a:pPr marL="0" indent="0" algn="l">
              <a:lnSpc>
                <a:spcPts val="1300"/>
              </a:lnSpc>
              <a:buNone/>
            </a:pPr>
            <a:r>
              <a:rPr lang="en-US" sz="727" dirty="0">
                <a:solidFill>
                  <a:srgbClr val="333333"/>
                </a:solidFill>
              </a:rPr>
              <a:t>Demand for faster delivery increases pressure on ITOps to innovate.</a:t>
            </a:r>
            <a:endParaRPr lang="en-US" sz="727" dirty="0"/>
          </a:p>
        </p:txBody>
      </p:sp>
      <p:sp>
        <p:nvSpPr>
          <p:cNvPr id="24" name="Shape 21"/>
          <p:cNvSpPr/>
          <p:nvPr/>
        </p:nvSpPr>
        <p:spPr>
          <a:xfrm>
            <a:off x="3286125" y="3020355"/>
            <a:ext cx="2571750" cy="1773101"/>
          </a:xfrm>
          <a:prstGeom prst="rect">
            <a:avLst/>
          </a:prstGeom>
          <a:solidFill>
            <a:srgbClr val="FFFFFF"/>
          </a:solidFill>
          <a:ln/>
        </p:spPr>
      </p:sp>
      <p:sp>
        <p:nvSpPr>
          <p:cNvPr id="25" name="Shape 22"/>
          <p:cNvSpPr/>
          <p:nvPr/>
        </p:nvSpPr>
        <p:spPr>
          <a:xfrm>
            <a:off x="3286125" y="3020355"/>
            <a:ext cx="28575" cy="1773101"/>
          </a:xfrm>
          <a:prstGeom prst="rect">
            <a:avLst/>
          </a:prstGeom>
          <a:solidFill>
            <a:srgbClr val="0052CC"/>
          </a:solidFill>
          <a:ln/>
        </p:spPr>
      </p:sp>
      <p:sp>
        <p:nvSpPr>
          <p:cNvPr id="26" name="Text 23"/>
          <p:cNvSpPr/>
          <p:nvPr/>
        </p:nvSpPr>
        <p:spPr>
          <a:xfrm>
            <a:off x="3400425" y="3134655"/>
            <a:ext cx="2343150" cy="135731"/>
          </a:xfrm>
          <a:prstGeom prst="rect">
            <a:avLst/>
          </a:prstGeom>
          <a:noFill/>
          <a:ln/>
        </p:spPr>
        <p:txBody>
          <a:bodyPr wrap="none" lIns="0" tIns="0" rIns="0" bIns="0" rtlCol="0" anchor="t">
            <a:spAutoFit/>
          </a:bodyPr>
          <a:lstStyle/>
          <a:p>
            <a:pPr marL="0" indent="0" algn="l">
              <a:lnSpc>
                <a:spcPts val="900"/>
              </a:lnSpc>
              <a:buNone/>
            </a:pPr>
            <a:r>
              <a:rPr lang="en-US" sz="683" b="1" kern="0" spc="1" dirty="0">
                <a:solidFill>
                  <a:srgbClr val="0052CC"/>
                </a:solidFill>
              </a:rPr>
              <a:t>Challenge 05</a:t>
            </a:r>
            <a:endParaRPr lang="en-US" sz="683" dirty="0"/>
          </a:p>
        </p:txBody>
      </p:sp>
      <p:sp>
        <p:nvSpPr>
          <p:cNvPr id="27" name="Text 24"/>
          <p:cNvSpPr/>
          <p:nvPr/>
        </p:nvSpPr>
        <p:spPr>
          <a:xfrm>
            <a:off x="3400425" y="3327536"/>
            <a:ext cx="2343150" cy="167153"/>
          </a:xfrm>
          <a:prstGeom prst="rect">
            <a:avLst/>
          </a:prstGeom>
          <a:noFill/>
          <a:ln/>
        </p:spPr>
        <p:txBody>
          <a:bodyPr wrap="none" lIns="0" tIns="0" rIns="0" bIns="0" rtlCol="0" anchor="t">
            <a:spAutoFit/>
          </a:bodyPr>
          <a:lstStyle/>
          <a:p>
            <a:pPr marL="0" indent="0" algn="l">
              <a:lnSpc>
                <a:spcPts val="1300"/>
              </a:lnSpc>
              <a:buNone/>
            </a:pPr>
            <a:r>
              <a:rPr lang="en-US" sz="885" b="1" dirty="0">
                <a:solidFill>
                  <a:srgbClr val="1A1A1A"/>
                </a:solidFill>
              </a:rPr>
              <a:t>Cybersecurity Threats</a:t>
            </a:r>
            <a:endParaRPr lang="en-US" sz="885" dirty="0"/>
          </a:p>
        </p:txBody>
      </p:sp>
      <p:sp>
        <p:nvSpPr>
          <p:cNvPr id="28" name="Text 25"/>
          <p:cNvSpPr/>
          <p:nvPr/>
        </p:nvSpPr>
        <p:spPr>
          <a:xfrm>
            <a:off x="3400425" y="3580414"/>
            <a:ext cx="2343150" cy="320018"/>
          </a:xfrm>
          <a:prstGeom prst="rect">
            <a:avLst/>
          </a:prstGeom>
          <a:noFill/>
          <a:ln/>
        </p:spPr>
        <p:txBody>
          <a:bodyPr wrap="square" lIns="0" tIns="0" rIns="0" bIns="0" rtlCol="0" anchor="t">
            <a:spAutoFit/>
          </a:bodyPr>
          <a:lstStyle/>
          <a:p>
            <a:pPr marL="0" indent="0" algn="l">
              <a:lnSpc>
                <a:spcPts val="1300"/>
              </a:lnSpc>
              <a:buNone/>
            </a:pPr>
            <a:r>
              <a:rPr lang="en-US" sz="727" dirty="0">
                <a:solidFill>
                  <a:srgbClr val="333333"/>
                </a:solidFill>
              </a:rPr>
              <a:t>Sophisticated attacks require continuous, proactive detection and response.</a:t>
            </a:r>
            <a:endParaRPr lang="en-US" sz="727" dirty="0"/>
          </a:p>
        </p:txBody>
      </p:sp>
      <p:sp>
        <p:nvSpPr>
          <p:cNvPr id="29" name="Shape 26"/>
          <p:cNvSpPr/>
          <p:nvPr/>
        </p:nvSpPr>
        <p:spPr>
          <a:xfrm>
            <a:off x="571500" y="4907756"/>
            <a:ext cx="8001000" cy="235744"/>
          </a:xfrm>
          <a:prstGeom prst="rect">
            <a:avLst/>
          </a:prstGeom>
          <a:solidFill>
            <a:srgbClr val="000000">
              <a:alpha val="0"/>
            </a:srgbClr>
          </a:solidFill>
          <a:ln/>
        </p:spPr>
      </p:sp>
      <p:sp>
        <p:nvSpPr>
          <p:cNvPr id="30" name="Shape 27"/>
          <p:cNvSpPr/>
          <p:nvPr/>
        </p:nvSpPr>
        <p:spPr>
          <a:xfrm>
            <a:off x="571500" y="4907756"/>
            <a:ext cx="8001000" cy="14288"/>
          </a:xfrm>
          <a:prstGeom prst="rect">
            <a:avLst/>
          </a:prstGeom>
          <a:solidFill>
            <a:srgbClr val="CCCCCC"/>
          </a:solidFill>
          <a:ln/>
        </p:spPr>
      </p:sp>
      <p:sp>
        <p:nvSpPr>
          <p:cNvPr id="31" name="Text 28"/>
          <p:cNvSpPr/>
          <p:nvPr/>
        </p:nvSpPr>
        <p:spPr>
          <a:xfrm>
            <a:off x="571500" y="4907756"/>
            <a:ext cx="8001000" cy="235744"/>
          </a:xfrm>
          <a:prstGeom prst="rect">
            <a:avLst/>
          </a:prstGeom>
          <a:noFill/>
          <a:ln/>
        </p:spPr>
        <p:txBody>
          <a:bodyPr wrap="square" lIns="0" tIns="102108" rIns="0" bIns="0" rtlCol="0" anchor="t">
            <a:spAutoFit/>
          </a:bodyPr>
          <a:lstStyle/>
          <a:p>
            <a:pPr marL="0" indent="0" algn="ctr">
              <a:lnSpc>
                <a:spcPts val="900"/>
              </a:lnSpc>
              <a:buNone/>
            </a:pPr>
            <a:r>
              <a:rPr lang="en-US" sz="727" i="1" dirty="0">
                <a:solidFill>
                  <a:srgbClr val="333333"/>
                </a:solidFill>
              </a:rPr>
              <a:t>These challenges require a shift towards more intelligent and automated operational models.</a:t>
            </a:r>
            <a:endParaRPr lang="en-US" sz="727"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Text 0"/>
          <p:cNvSpPr/>
          <p:nvPr/>
        </p:nvSpPr>
        <p:spPr>
          <a:xfrm>
            <a:off x="428625" y="592931"/>
            <a:ext cx="5429250" cy="594327"/>
          </a:xfrm>
          <a:prstGeom prst="rect">
            <a:avLst/>
          </a:prstGeom>
          <a:noFill/>
          <a:ln/>
        </p:spPr>
        <p:txBody>
          <a:bodyPr wrap="square" lIns="0" tIns="0" rIns="0" bIns="0" rtlCol="0" anchor="t">
            <a:spAutoFit/>
          </a:bodyPr>
          <a:lstStyle/>
          <a:p>
            <a:pPr marL="0" indent="0" algn="l">
              <a:lnSpc>
                <a:spcPts val="2300"/>
              </a:lnSpc>
              <a:buNone/>
            </a:pPr>
            <a:r>
              <a:rPr lang="en-US" sz="1602" b="1" dirty="0">
                <a:solidFill>
                  <a:srgbClr val="1A1A1A"/>
                </a:solidFill>
              </a:rPr>
              <a:t>The Dawn of AIOps:
Intelligence-Driven Operations</a:t>
            </a:r>
            <a:endParaRPr lang="en-US" sz="1602" dirty="0"/>
          </a:p>
        </p:txBody>
      </p:sp>
      <p:sp>
        <p:nvSpPr>
          <p:cNvPr id="4" name="Text 1"/>
          <p:cNvSpPr/>
          <p:nvPr/>
        </p:nvSpPr>
        <p:spPr>
          <a:xfrm>
            <a:off x="428625" y="1365852"/>
            <a:ext cx="5429250" cy="914316"/>
          </a:xfrm>
          <a:prstGeom prst="rect">
            <a:avLst/>
          </a:prstGeom>
          <a:noFill/>
          <a:ln/>
        </p:spPr>
        <p:txBody>
          <a:bodyPr wrap="square" lIns="0" tIns="0" rIns="0" bIns="0" rtlCol="0" anchor="t">
            <a:spAutoFit/>
          </a:bodyPr>
          <a:lstStyle/>
          <a:p>
            <a:pPr marL="0" indent="0" algn="l">
              <a:lnSpc>
                <a:spcPts val="1400"/>
              </a:lnSpc>
              <a:buNone/>
            </a:pPr>
            <a:r>
              <a:rPr lang="en-US" sz="834" dirty="0">
                <a:solidFill>
                  <a:srgbClr val="333333"/>
                </a:solidFill>
              </a:rPr>
              <a:t>AIOps, or Artificial Intelligence for IT Operations, represents a paradigm shift in how IT operations are managed. By leveraging the power of AI and machine learning, AIOps enables a proactive, predictive, and automated approach to managing complex IT environments. It builds upon the foundations of Agile, DevOps, and ITOps to create a more intelligent and responsive operational model.</a:t>
            </a:r>
            <a:endParaRPr lang="en-US" sz="834" dirty="0"/>
          </a:p>
        </p:txBody>
      </p:sp>
      <p:sp>
        <p:nvSpPr>
          <p:cNvPr id="5" name="Text 2"/>
          <p:cNvSpPr/>
          <p:nvPr/>
        </p:nvSpPr>
        <p:spPr>
          <a:xfrm>
            <a:off x="428625" y="2494480"/>
            <a:ext cx="5429250" cy="155377"/>
          </a:xfrm>
          <a:prstGeom prst="rect">
            <a:avLst/>
          </a:prstGeom>
          <a:noFill/>
          <a:ln/>
        </p:spPr>
        <p:txBody>
          <a:bodyPr wrap="none" lIns="0" tIns="0" rIns="0" bIns="0" rtlCol="0" anchor="t">
            <a:spAutoFit/>
          </a:bodyPr>
          <a:lstStyle/>
          <a:p>
            <a:pPr marL="0" indent="0" algn="l">
              <a:lnSpc>
                <a:spcPts val="1100"/>
              </a:lnSpc>
              <a:buNone/>
            </a:pPr>
            <a:r>
              <a:rPr lang="en-US" sz="784" b="1" dirty="0">
                <a:solidFill>
                  <a:srgbClr val="1A1A1A"/>
                </a:solidFill>
              </a:rPr>
              <a:t>The AIOps Hierarchy:</a:t>
            </a:r>
            <a:endParaRPr lang="en-US" sz="784" dirty="0"/>
          </a:p>
        </p:txBody>
      </p:sp>
      <p:sp>
        <p:nvSpPr>
          <p:cNvPr id="6" name="Shape 3"/>
          <p:cNvSpPr/>
          <p:nvPr/>
        </p:nvSpPr>
        <p:spPr>
          <a:xfrm>
            <a:off x="428625" y="2792732"/>
            <a:ext cx="214313" cy="214313"/>
          </a:xfrm>
          <a:prstGeom prst="ellipse">
            <a:avLst/>
          </a:prstGeom>
          <a:solidFill>
            <a:srgbClr val="0052CC"/>
          </a:solidFill>
          <a:ln/>
        </p:spPr>
      </p:sp>
      <p:sp>
        <p:nvSpPr>
          <p:cNvPr id="7" name="Text 4"/>
          <p:cNvSpPr/>
          <p:nvPr/>
        </p:nvSpPr>
        <p:spPr>
          <a:xfrm>
            <a:off x="428625" y="2792732"/>
            <a:ext cx="214313" cy="214313"/>
          </a:xfrm>
          <a:prstGeom prst="rect">
            <a:avLst/>
          </a:prstGeom>
          <a:noFill/>
          <a:ln/>
        </p:spPr>
        <p:txBody>
          <a:bodyPr wrap="none" lIns="0" tIns="0" rIns="0" bIns="0" rtlCol="0" anchor="t">
            <a:spAutoFit/>
          </a:bodyPr>
          <a:lstStyle/>
          <a:p>
            <a:pPr marL="0" indent="0" algn="l">
              <a:lnSpc>
                <a:spcPts val="1200"/>
              </a:lnSpc>
              <a:buNone/>
            </a:pPr>
            <a:r>
              <a:rPr lang="en-US" sz="683" b="1" dirty="0">
                <a:solidFill>
                  <a:srgbClr val="F2F2F2"/>
                </a:solidFill>
              </a:rPr>
              <a:t>counter(item)</a:t>
            </a:r>
            <a:endParaRPr lang="en-US" sz="683" dirty="0"/>
          </a:p>
        </p:txBody>
      </p:sp>
      <p:sp>
        <p:nvSpPr>
          <p:cNvPr id="8" name="Text 5"/>
          <p:cNvSpPr/>
          <p:nvPr/>
        </p:nvSpPr>
        <p:spPr>
          <a:xfrm>
            <a:off x="714375" y="2799876"/>
            <a:ext cx="361094" cy="155377"/>
          </a:xfrm>
          <a:prstGeom prst="rect">
            <a:avLst/>
          </a:prstGeom>
          <a:noFill/>
          <a:ln/>
        </p:spPr>
        <p:txBody>
          <a:bodyPr wrap="none" lIns="0" tIns="0" rIns="0" bIns="0" rtlCol="0" anchor="t">
            <a:spAutoFit/>
          </a:bodyPr>
          <a:lstStyle/>
          <a:p>
            <a:pPr marL="0" indent="0" algn="l">
              <a:lnSpc>
                <a:spcPts val="1400"/>
              </a:lnSpc>
              <a:buNone/>
            </a:pPr>
            <a:r>
              <a:rPr lang="en-US" sz="784" b="1" dirty="0">
                <a:solidFill>
                  <a:srgbClr val="1A1A1A"/>
                </a:solidFill>
              </a:rPr>
              <a:t>ITOps:</a:t>
            </a:r>
            <a:endParaRPr lang="en-US" sz="784" dirty="0"/>
          </a:p>
        </p:txBody>
      </p:sp>
      <p:sp>
        <p:nvSpPr>
          <p:cNvPr id="9" name="Text 6"/>
          <p:cNvSpPr/>
          <p:nvPr/>
        </p:nvSpPr>
        <p:spPr>
          <a:xfrm>
            <a:off x="1105188" y="2815949"/>
            <a:ext cx="2677846" cy="135731"/>
          </a:xfrm>
          <a:prstGeom prst="rect">
            <a:avLst/>
          </a:prstGeom>
          <a:noFill/>
          <a:ln/>
        </p:spPr>
        <p:txBody>
          <a:bodyPr wrap="none" lIns="0" tIns="0" rIns="0" bIns="0" rtlCol="0" anchor="t">
            <a:spAutoFit/>
          </a:bodyPr>
          <a:lstStyle/>
          <a:p>
            <a:pPr marL="0" indent="0" algn="l">
              <a:lnSpc>
                <a:spcPts val="1200"/>
              </a:lnSpc>
              <a:buNone/>
            </a:pPr>
            <a:r>
              <a:rPr lang="en-US" sz="727" dirty="0">
                <a:solidFill>
                  <a:srgbClr val="666666"/>
                </a:solidFill>
              </a:rPr>
              <a:t>The foundational layer responsible for IT service delivery.</a:t>
            </a:r>
            <a:endParaRPr lang="en-US" sz="727" dirty="0"/>
          </a:p>
        </p:txBody>
      </p:sp>
      <p:sp>
        <p:nvSpPr>
          <p:cNvPr id="10" name="Shape 7"/>
          <p:cNvSpPr/>
          <p:nvPr/>
        </p:nvSpPr>
        <p:spPr>
          <a:xfrm>
            <a:off x="428625" y="3078482"/>
            <a:ext cx="214313" cy="214313"/>
          </a:xfrm>
          <a:prstGeom prst="ellipse">
            <a:avLst/>
          </a:prstGeom>
          <a:solidFill>
            <a:srgbClr val="0052CC"/>
          </a:solidFill>
          <a:ln/>
        </p:spPr>
      </p:sp>
      <p:sp>
        <p:nvSpPr>
          <p:cNvPr id="11" name="Text 8"/>
          <p:cNvSpPr/>
          <p:nvPr/>
        </p:nvSpPr>
        <p:spPr>
          <a:xfrm>
            <a:off x="428625" y="3078482"/>
            <a:ext cx="214313" cy="214313"/>
          </a:xfrm>
          <a:prstGeom prst="rect">
            <a:avLst/>
          </a:prstGeom>
          <a:noFill/>
          <a:ln/>
        </p:spPr>
        <p:txBody>
          <a:bodyPr wrap="none" lIns="0" tIns="0" rIns="0" bIns="0" rtlCol="0" anchor="t">
            <a:spAutoFit/>
          </a:bodyPr>
          <a:lstStyle/>
          <a:p>
            <a:pPr marL="0" indent="0" algn="l">
              <a:lnSpc>
                <a:spcPts val="1200"/>
              </a:lnSpc>
              <a:buNone/>
            </a:pPr>
            <a:r>
              <a:rPr lang="en-US" sz="683" b="1" dirty="0">
                <a:solidFill>
                  <a:srgbClr val="F2F2F2"/>
                </a:solidFill>
              </a:rPr>
              <a:t>counter(item)</a:t>
            </a:r>
            <a:endParaRPr lang="en-US" sz="683" dirty="0"/>
          </a:p>
        </p:txBody>
      </p:sp>
      <p:sp>
        <p:nvSpPr>
          <p:cNvPr id="12" name="Text 9"/>
          <p:cNvSpPr/>
          <p:nvPr/>
        </p:nvSpPr>
        <p:spPr>
          <a:xfrm>
            <a:off x="714375" y="3085626"/>
            <a:ext cx="901257" cy="155377"/>
          </a:xfrm>
          <a:prstGeom prst="rect">
            <a:avLst/>
          </a:prstGeom>
          <a:noFill/>
          <a:ln/>
        </p:spPr>
        <p:txBody>
          <a:bodyPr wrap="none" lIns="0" tIns="0" rIns="0" bIns="0" rtlCol="0" anchor="t">
            <a:spAutoFit/>
          </a:bodyPr>
          <a:lstStyle/>
          <a:p>
            <a:pPr marL="0" indent="0" algn="l">
              <a:lnSpc>
                <a:spcPts val="1400"/>
              </a:lnSpc>
              <a:buNone/>
            </a:pPr>
            <a:r>
              <a:rPr lang="en-US" sz="784" b="1" dirty="0">
                <a:solidFill>
                  <a:srgbClr val="1A1A1A"/>
                </a:solidFill>
              </a:rPr>
              <a:t>Agile &amp; DevOps:</a:t>
            </a:r>
            <a:endParaRPr lang="en-US" sz="784" dirty="0"/>
          </a:p>
        </p:txBody>
      </p:sp>
      <p:sp>
        <p:nvSpPr>
          <p:cNvPr id="13" name="Text 10"/>
          <p:cNvSpPr/>
          <p:nvPr/>
        </p:nvSpPr>
        <p:spPr>
          <a:xfrm>
            <a:off x="1645351" y="3101699"/>
            <a:ext cx="3328541" cy="135731"/>
          </a:xfrm>
          <a:prstGeom prst="rect">
            <a:avLst/>
          </a:prstGeom>
          <a:noFill/>
          <a:ln/>
        </p:spPr>
        <p:txBody>
          <a:bodyPr wrap="none" lIns="0" tIns="0" rIns="0" bIns="0" rtlCol="0" anchor="t">
            <a:spAutoFit/>
          </a:bodyPr>
          <a:lstStyle/>
          <a:p>
            <a:pPr marL="0" indent="0" algn="l">
              <a:lnSpc>
                <a:spcPts val="1200"/>
              </a:lnSpc>
              <a:buNone/>
            </a:pPr>
            <a:r>
              <a:rPr lang="en-US" sz="727" dirty="0">
                <a:solidFill>
                  <a:srgbClr val="666666"/>
                </a:solidFill>
              </a:rPr>
              <a:t>Methodologies that promote collaboration and rapid, iterative delivery.</a:t>
            </a:r>
            <a:endParaRPr lang="en-US" sz="727" dirty="0"/>
          </a:p>
        </p:txBody>
      </p:sp>
      <p:sp>
        <p:nvSpPr>
          <p:cNvPr id="14" name="Shape 11"/>
          <p:cNvSpPr/>
          <p:nvPr/>
        </p:nvSpPr>
        <p:spPr>
          <a:xfrm>
            <a:off x="428625" y="3364232"/>
            <a:ext cx="214313" cy="214313"/>
          </a:xfrm>
          <a:prstGeom prst="ellipse">
            <a:avLst/>
          </a:prstGeom>
          <a:solidFill>
            <a:srgbClr val="0052CC"/>
          </a:solidFill>
          <a:ln/>
        </p:spPr>
      </p:sp>
      <p:sp>
        <p:nvSpPr>
          <p:cNvPr id="15" name="Text 12"/>
          <p:cNvSpPr/>
          <p:nvPr/>
        </p:nvSpPr>
        <p:spPr>
          <a:xfrm>
            <a:off x="428625" y="3364232"/>
            <a:ext cx="214313" cy="214313"/>
          </a:xfrm>
          <a:prstGeom prst="rect">
            <a:avLst/>
          </a:prstGeom>
          <a:noFill/>
          <a:ln/>
        </p:spPr>
        <p:txBody>
          <a:bodyPr wrap="none" lIns="0" tIns="0" rIns="0" bIns="0" rtlCol="0" anchor="t">
            <a:spAutoFit/>
          </a:bodyPr>
          <a:lstStyle/>
          <a:p>
            <a:pPr marL="0" indent="0" algn="l">
              <a:lnSpc>
                <a:spcPts val="1200"/>
              </a:lnSpc>
              <a:buNone/>
            </a:pPr>
            <a:r>
              <a:rPr lang="en-US" sz="683" b="1" dirty="0">
                <a:solidFill>
                  <a:srgbClr val="F2F2F2"/>
                </a:solidFill>
              </a:rPr>
              <a:t>counter(item)</a:t>
            </a:r>
            <a:endParaRPr lang="en-US" sz="683" dirty="0"/>
          </a:p>
        </p:txBody>
      </p:sp>
      <p:sp>
        <p:nvSpPr>
          <p:cNvPr id="16" name="Text 13"/>
          <p:cNvSpPr/>
          <p:nvPr/>
        </p:nvSpPr>
        <p:spPr>
          <a:xfrm>
            <a:off x="714375" y="3371376"/>
            <a:ext cx="376051" cy="155377"/>
          </a:xfrm>
          <a:prstGeom prst="rect">
            <a:avLst/>
          </a:prstGeom>
          <a:noFill/>
          <a:ln/>
        </p:spPr>
        <p:txBody>
          <a:bodyPr wrap="none" lIns="0" tIns="0" rIns="0" bIns="0" rtlCol="0" anchor="t">
            <a:spAutoFit/>
          </a:bodyPr>
          <a:lstStyle/>
          <a:p>
            <a:pPr marL="0" indent="0" algn="l">
              <a:lnSpc>
                <a:spcPts val="1400"/>
              </a:lnSpc>
              <a:buNone/>
            </a:pPr>
            <a:r>
              <a:rPr lang="en-US" sz="784" b="1" dirty="0">
                <a:solidFill>
                  <a:srgbClr val="1A1A1A"/>
                </a:solidFill>
              </a:rPr>
              <a:t>AIOps:</a:t>
            </a:r>
            <a:endParaRPr lang="en-US" sz="784" dirty="0"/>
          </a:p>
        </p:txBody>
      </p:sp>
      <p:sp>
        <p:nvSpPr>
          <p:cNvPr id="17" name="Text 14"/>
          <p:cNvSpPr/>
          <p:nvPr/>
        </p:nvSpPr>
        <p:spPr>
          <a:xfrm>
            <a:off x="714375" y="3387449"/>
            <a:ext cx="5024261" cy="307181"/>
          </a:xfrm>
          <a:prstGeom prst="rect">
            <a:avLst/>
          </a:prstGeom>
          <a:noFill/>
          <a:ln/>
        </p:spPr>
        <p:txBody>
          <a:bodyPr wrap="square" lIns="0" tIns="0" rIns="0" bIns="0" rtlCol="0" anchor="t">
            <a:spAutoFit/>
          </a:bodyPr>
          <a:lstStyle/>
          <a:p>
            <a:pPr marL="0" indent="0" algn="l">
              <a:lnSpc>
                <a:spcPts val="1200"/>
              </a:lnSpc>
              <a:buNone/>
            </a:pPr>
            <a:r>
              <a:rPr lang="en-US" sz="727" dirty="0">
                <a:solidFill>
                  <a:srgbClr val="666666"/>
                </a:solidFill>
              </a:rPr>
              <a:t>The intelligence layer that analyzes data from all underlying systems to provide actionable insights and automate responses.</a:t>
            </a:r>
            <a:endParaRPr lang="en-US" sz="727" dirty="0"/>
          </a:p>
        </p:txBody>
      </p:sp>
      <p:sp>
        <p:nvSpPr>
          <p:cNvPr id="18" name="Shape 15"/>
          <p:cNvSpPr/>
          <p:nvPr/>
        </p:nvSpPr>
        <p:spPr>
          <a:xfrm>
            <a:off x="6143625" y="0"/>
            <a:ext cx="3000375" cy="5143500"/>
          </a:xfrm>
          <a:prstGeom prst="rect">
            <a:avLst/>
          </a:prstGeom>
          <a:solidFill>
            <a:srgbClr val="FFFFFF"/>
          </a:solidFill>
          <a:ln/>
        </p:spPr>
      </p:sp>
      <p:pic>
        <p:nvPicPr>
          <p:cNvPr id="19" name="Image 1" descr="preencoded.png"/>
          <p:cNvPicPr>
            <a:picLocks noChangeAspect="1"/>
          </p:cNvPicPr>
          <p:nvPr/>
        </p:nvPicPr>
        <p:blipFill>
          <a:blip r:embed="rId4"/>
          <a:stretch>
            <a:fillRect/>
          </a:stretch>
        </p:blipFill>
        <p:spPr>
          <a:xfrm>
            <a:off x="6143625" y="0"/>
            <a:ext cx="3000375"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Shape 0"/>
          <p:cNvSpPr/>
          <p:nvPr/>
        </p:nvSpPr>
        <p:spPr>
          <a:xfrm>
            <a:off x="0" y="0"/>
            <a:ext cx="2857500" cy="5143500"/>
          </a:xfrm>
          <a:prstGeom prst="rect">
            <a:avLst/>
          </a:prstGeom>
          <a:solidFill>
            <a:srgbClr val="FFFFFF"/>
          </a:solidFill>
          <a:ln/>
        </p:spPr>
      </p:sp>
      <p:pic>
        <p:nvPicPr>
          <p:cNvPr id="4" name="Image 1" descr="preencoded.png"/>
          <p:cNvPicPr>
            <a:picLocks noChangeAspect="1"/>
          </p:cNvPicPr>
          <p:nvPr/>
        </p:nvPicPr>
        <p:blipFill>
          <a:blip r:embed="rId4"/>
          <a:stretch>
            <a:fillRect/>
          </a:stretch>
        </p:blipFill>
        <p:spPr>
          <a:xfrm>
            <a:off x="0" y="0"/>
            <a:ext cx="2857500" cy="5143500"/>
          </a:xfrm>
          <a:prstGeom prst="rect">
            <a:avLst/>
          </a:prstGeom>
        </p:spPr>
      </p:pic>
      <p:sp>
        <p:nvSpPr>
          <p:cNvPr id="5" name="Text 1"/>
          <p:cNvSpPr/>
          <p:nvPr/>
        </p:nvSpPr>
        <p:spPr>
          <a:xfrm>
            <a:off x="3214688" y="592931"/>
            <a:ext cx="5572125" cy="594327"/>
          </a:xfrm>
          <a:prstGeom prst="rect">
            <a:avLst/>
          </a:prstGeom>
          <a:noFill/>
          <a:ln/>
        </p:spPr>
        <p:txBody>
          <a:bodyPr wrap="square" lIns="0" tIns="0" rIns="0" bIns="0" rtlCol="0" anchor="t">
            <a:spAutoFit/>
          </a:bodyPr>
          <a:lstStyle/>
          <a:p>
            <a:pPr marL="0" indent="0" algn="l">
              <a:lnSpc>
                <a:spcPts val="2300"/>
              </a:lnSpc>
              <a:buNone/>
            </a:pPr>
            <a:r>
              <a:rPr lang="en-US" sz="1602" b="1" dirty="0">
                <a:solidFill>
                  <a:srgbClr val="1A1A1A"/>
                </a:solidFill>
              </a:rPr>
              <a:t>AIOps in Action:
Transforming Key Operations</a:t>
            </a:r>
            <a:endParaRPr lang="en-US" sz="1602" dirty="0"/>
          </a:p>
        </p:txBody>
      </p:sp>
      <p:sp>
        <p:nvSpPr>
          <p:cNvPr id="6" name="Text 2"/>
          <p:cNvSpPr/>
          <p:nvPr/>
        </p:nvSpPr>
        <p:spPr>
          <a:xfrm>
            <a:off x="3386138" y="1437289"/>
            <a:ext cx="5400675" cy="135731"/>
          </a:xfrm>
          <a:prstGeom prst="rect">
            <a:avLst/>
          </a:prstGeom>
          <a:noFill/>
          <a:ln/>
        </p:spPr>
        <p:txBody>
          <a:bodyPr wrap="none" lIns="0" tIns="0" rIns="0" bIns="0" rtlCol="0" anchor="t">
            <a:spAutoFit/>
          </a:bodyPr>
          <a:lstStyle/>
          <a:p>
            <a:pPr marL="0" indent="0" algn="l">
              <a:lnSpc>
                <a:spcPts val="900"/>
              </a:lnSpc>
              <a:buNone/>
            </a:pPr>
            <a:r>
              <a:rPr lang="en-US" sz="683" b="1" kern="0" spc="1" dirty="0">
                <a:solidFill>
                  <a:srgbClr val="FF4500"/>
                </a:solidFill>
              </a:rPr>
              <a:t>(A) Monitoring &amp; Alerting</a:t>
            </a:r>
            <a:endParaRPr lang="en-US" sz="683" dirty="0"/>
          </a:p>
        </p:txBody>
      </p:sp>
      <p:sp>
        <p:nvSpPr>
          <p:cNvPr id="7" name="Text 3"/>
          <p:cNvSpPr/>
          <p:nvPr/>
        </p:nvSpPr>
        <p:spPr>
          <a:xfrm>
            <a:off x="3386138" y="1630170"/>
            <a:ext cx="5400675" cy="175022"/>
          </a:xfrm>
          <a:prstGeom prst="rect">
            <a:avLst/>
          </a:prstGeom>
          <a:noFill/>
          <a:ln/>
        </p:spPr>
        <p:txBody>
          <a:bodyPr wrap="none" lIns="0" tIns="0" rIns="0" bIns="0" rtlCol="0" anchor="t">
            <a:spAutoFit/>
          </a:bodyPr>
          <a:lstStyle/>
          <a:p>
            <a:pPr marL="0" indent="0" algn="l">
              <a:lnSpc>
                <a:spcPts val="1200"/>
              </a:lnSpc>
              <a:buNone/>
            </a:pPr>
            <a:r>
              <a:rPr lang="en-US" sz="885" b="1" dirty="0">
                <a:solidFill>
                  <a:srgbClr val="1A1A1A"/>
                </a:solidFill>
              </a:rPr>
              <a:t>Enhanced Monitoring &amp; Alerting</a:t>
            </a:r>
            <a:endParaRPr lang="en-US" sz="885" dirty="0"/>
          </a:p>
        </p:txBody>
      </p:sp>
      <p:sp>
        <p:nvSpPr>
          <p:cNvPr id="8" name="Text 4"/>
          <p:cNvSpPr/>
          <p:nvPr/>
        </p:nvSpPr>
        <p:spPr>
          <a:xfrm>
            <a:off x="3386138" y="1876630"/>
            <a:ext cx="5400675" cy="321469"/>
          </a:xfrm>
          <a:prstGeom prst="rect">
            <a:avLst/>
          </a:prstGeom>
          <a:noFill/>
          <a:ln/>
        </p:spPr>
        <p:txBody>
          <a:bodyPr wrap="square" lIns="0" tIns="0" rIns="0" bIns="0" rtlCol="0" anchor="t">
            <a:spAutoFit/>
          </a:bodyPr>
          <a:lstStyle/>
          <a:p>
            <a:pPr marL="0" indent="0" algn="l">
              <a:lnSpc>
                <a:spcPts val="1300"/>
              </a:lnSpc>
              <a:buNone/>
            </a:pPr>
            <a:r>
              <a:rPr lang="en-US" sz="780" dirty="0">
                <a:solidFill>
                  <a:srgbClr val="333333"/>
                </a:solidFill>
              </a:rPr>
              <a:t>AIOps platforms analyze vast amounts of data in real-time to detect anomalies, correlate alerts to identify root causes, and reduce alert noise, allowing IT teams to focus on what matters most.</a:t>
            </a:r>
            <a:endParaRPr lang="en-US" sz="780" dirty="0"/>
          </a:p>
        </p:txBody>
      </p:sp>
      <p:sp>
        <p:nvSpPr>
          <p:cNvPr id="9" name="Text 5"/>
          <p:cNvSpPr/>
          <p:nvPr/>
        </p:nvSpPr>
        <p:spPr>
          <a:xfrm>
            <a:off x="3386138" y="2376692"/>
            <a:ext cx="5400675" cy="135731"/>
          </a:xfrm>
          <a:prstGeom prst="rect">
            <a:avLst/>
          </a:prstGeom>
          <a:noFill/>
          <a:ln/>
        </p:spPr>
        <p:txBody>
          <a:bodyPr wrap="none" lIns="0" tIns="0" rIns="0" bIns="0" rtlCol="0" anchor="t">
            <a:spAutoFit/>
          </a:bodyPr>
          <a:lstStyle/>
          <a:p>
            <a:pPr marL="0" indent="0" algn="l">
              <a:lnSpc>
                <a:spcPts val="900"/>
              </a:lnSpc>
              <a:buNone/>
            </a:pPr>
            <a:r>
              <a:rPr lang="en-US" sz="683" b="1" kern="0" spc="1" dirty="0">
                <a:solidFill>
                  <a:srgbClr val="FF4500"/>
                </a:solidFill>
              </a:rPr>
              <a:t>(B) Security &amp; Compliance</a:t>
            </a:r>
            <a:endParaRPr lang="en-US" sz="683" dirty="0"/>
          </a:p>
        </p:txBody>
      </p:sp>
      <p:sp>
        <p:nvSpPr>
          <p:cNvPr id="10" name="Text 6"/>
          <p:cNvSpPr/>
          <p:nvPr/>
        </p:nvSpPr>
        <p:spPr>
          <a:xfrm>
            <a:off x="3386138" y="2569573"/>
            <a:ext cx="5400675" cy="175022"/>
          </a:xfrm>
          <a:prstGeom prst="rect">
            <a:avLst/>
          </a:prstGeom>
          <a:noFill/>
          <a:ln/>
        </p:spPr>
        <p:txBody>
          <a:bodyPr wrap="none" lIns="0" tIns="0" rIns="0" bIns="0" rtlCol="0" anchor="t">
            <a:spAutoFit/>
          </a:bodyPr>
          <a:lstStyle/>
          <a:p>
            <a:pPr marL="0" indent="0" algn="l">
              <a:lnSpc>
                <a:spcPts val="1200"/>
              </a:lnSpc>
              <a:buNone/>
            </a:pPr>
            <a:r>
              <a:rPr lang="en-US" sz="885" b="1" dirty="0">
                <a:solidFill>
                  <a:srgbClr val="1A1A1A"/>
                </a:solidFill>
              </a:rPr>
              <a:t>Proactive Security &amp; Compliance</a:t>
            </a:r>
            <a:endParaRPr lang="en-US" sz="885" dirty="0"/>
          </a:p>
        </p:txBody>
      </p:sp>
      <p:sp>
        <p:nvSpPr>
          <p:cNvPr id="11" name="Text 7"/>
          <p:cNvSpPr/>
          <p:nvPr/>
        </p:nvSpPr>
        <p:spPr>
          <a:xfrm>
            <a:off x="3386138" y="2816033"/>
            <a:ext cx="5400675" cy="321469"/>
          </a:xfrm>
          <a:prstGeom prst="rect">
            <a:avLst/>
          </a:prstGeom>
          <a:noFill/>
          <a:ln/>
        </p:spPr>
        <p:txBody>
          <a:bodyPr wrap="square" lIns="0" tIns="0" rIns="0" bIns="0" rtlCol="0" anchor="t">
            <a:spAutoFit/>
          </a:bodyPr>
          <a:lstStyle/>
          <a:p>
            <a:pPr marL="0" indent="0" algn="l">
              <a:lnSpc>
                <a:spcPts val="1300"/>
              </a:lnSpc>
              <a:buNone/>
            </a:pPr>
            <a:r>
              <a:rPr lang="en-US" sz="780" dirty="0">
                <a:solidFill>
                  <a:srgbClr val="333333"/>
                </a:solidFill>
              </a:rPr>
              <a:t>By continuously monitoring for suspicious activities and potential threats, AIOps can identify and mitigate security risks before they impact the business and automate compliance checks.</a:t>
            </a:r>
            <a:endParaRPr lang="en-US" sz="780" dirty="0"/>
          </a:p>
        </p:txBody>
      </p:sp>
      <p:sp>
        <p:nvSpPr>
          <p:cNvPr id="12" name="Text 8"/>
          <p:cNvSpPr/>
          <p:nvPr/>
        </p:nvSpPr>
        <p:spPr>
          <a:xfrm>
            <a:off x="3386138" y="3316095"/>
            <a:ext cx="5400675" cy="135731"/>
          </a:xfrm>
          <a:prstGeom prst="rect">
            <a:avLst/>
          </a:prstGeom>
          <a:noFill/>
          <a:ln/>
        </p:spPr>
        <p:txBody>
          <a:bodyPr wrap="none" lIns="0" tIns="0" rIns="0" bIns="0" rtlCol="0" anchor="t">
            <a:spAutoFit/>
          </a:bodyPr>
          <a:lstStyle/>
          <a:p>
            <a:pPr marL="0" indent="0" algn="l">
              <a:lnSpc>
                <a:spcPts val="900"/>
              </a:lnSpc>
              <a:buNone/>
            </a:pPr>
            <a:r>
              <a:rPr lang="en-US" sz="683" b="1" kern="0" spc="1" dirty="0">
                <a:solidFill>
                  <a:srgbClr val="FF4500"/>
                </a:solidFill>
              </a:rPr>
              <a:t>(C) Problem Resolution</a:t>
            </a:r>
            <a:endParaRPr lang="en-US" sz="683" dirty="0"/>
          </a:p>
        </p:txBody>
      </p:sp>
      <p:sp>
        <p:nvSpPr>
          <p:cNvPr id="13" name="Text 9"/>
          <p:cNvSpPr/>
          <p:nvPr/>
        </p:nvSpPr>
        <p:spPr>
          <a:xfrm>
            <a:off x="3386138" y="3508977"/>
            <a:ext cx="5400675" cy="175022"/>
          </a:xfrm>
          <a:prstGeom prst="rect">
            <a:avLst/>
          </a:prstGeom>
          <a:noFill/>
          <a:ln/>
        </p:spPr>
        <p:txBody>
          <a:bodyPr wrap="none" lIns="0" tIns="0" rIns="0" bIns="0" rtlCol="0" anchor="t">
            <a:spAutoFit/>
          </a:bodyPr>
          <a:lstStyle/>
          <a:p>
            <a:pPr marL="0" indent="0" algn="l">
              <a:lnSpc>
                <a:spcPts val="1200"/>
              </a:lnSpc>
              <a:buNone/>
            </a:pPr>
            <a:r>
              <a:rPr lang="en-US" sz="885" b="1" dirty="0">
                <a:solidFill>
                  <a:srgbClr val="1A1A1A"/>
                </a:solidFill>
              </a:rPr>
              <a:t>Accelerated Problem Resolution</a:t>
            </a:r>
            <a:endParaRPr lang="en-US" sz="885" dirty="0"/>
          </a:p>
        </p:txBody>
      </p:sp>
      <p:sp>
        <p:nvSpPr>
          <p:cNvPr id="14" name="Text 10"/>
          <p:cNvSpPr/>
          <p:nvPr/>
        </p:nvSpPr>
        <p:spPr>
          <a:xfrm>
            <a:off x="3386138" y="3755436"/>
            <a:ext cx="5400675" cy="321469"/>
          </a:xfrm>
          <a:prstGeom prst="rect">
            <a:avLst/>
          </a:prstGeom>
          <a:noFill/>
          <a:ln/>
        </p:spPr>
        <p:txBody>
          <a:bodyPr wrap="square" lIns="0" tIns="0" rIns="0" bIns="0" rtlCol="0" anchor="t">
            <a:spAutoFit/>
          </a:bodyPr>
          <a:lstStyle/>
          <a:p>
            <a:pPr marL="0" indent="0" algn="l">
              <a:lnSpc>
                <a:spcPts val="1300"/>
              </a:lnSpc>
              <a:buNone/>
            </a:pPr>
            <a:r>
              <a:rPr lang="en-US" sz="780" dirty="0">
                <a:solidFill>
                  <a:srgbClr val="333333"/>
                </a:solidFill>
              </a:rPr>
              <a:t>AIOps automates root cause analysis, provides predictive insights into potential incidents, and can power self-service help desks to resolve common issues without human intervention.</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Shape 0"/>
          <p:cNvSpPr/>
          <p:nvPr/>
        </p:nvSpPr>
        <p:spPr>
          <a:xfrm>
            <a:off x="0" y="0"/>
            <a:ext cx="3000375" cy="5143500"/>
          </a:xfrm>
          <a:prstGeom prst="rect">
            <a:avLst/>
          </a:prstGeom>
          <a:solidFill>
            <a:srgbClr val="FFFFFF"/>
          </a:solidFill>
          <a:ln/>
        </p:spPr>
      </p:sp>
      <p:pic>
        <p:nvPicPr>
          <p:cNvPr id="4" name="Image 1" descr="preencoded.png"/>
          <p:cNvPicPr>
            <a:picLocks noChangeAspect="1"/>
          </p:cNvPicPr>
          <p:nvPr/>
        </p:nvPicPr>
        <p:blipFill>
          <a:blip r:embed="rId4"/>
          <a:stretch>
            <a:fillRect/>
          </a:stretch>
        </p:blipFill>
        <p:spPr>
          <a:xfrm>
            <a:off x="0" y="0"/>
            <a:ext cx="3000375" cy="5143500"/>
          </a:xfrm>
          <a:prstGeom prst="rect">
            <a:avLst/>
          </a:prstGeom>
        </p:spPr>
      </p:pic>
      <p:sp>
        <p:nvSpPr>
          <p:cNvPr id="5" name="Text 1"/>
          <p:cNvSpPr/>
          <p:nvPr/>
        </p:nvSpPr>
        <p:spPr>
          <a:xfrm>
            <a:off x="3429000" y="592931"/>
            <a:ext cx="5286375" cy="297163"/>
          </a:xfrm>
          <a:prstGeom prst="rect">
            <a:avLst/>
          </a:prstGeom>
          <a:noFill/>
          <a:ln/>
        </p:spPr>
        <p:txBody>
          <a:bodyPr wrap="none" lIns="0" tIns="0" rIns="0" bIns="0" rtlCol="0" anchor="t">
            <a:spAutoFit/>
          </a:bodyPr>
          <a:lstStyle/>
          <a:p>
            <a:pPr marL="0" indent="0" algn="l">
              <a:lnSpc>
                <a:spcPts val="2300"/>
              </a:lnSpc>
              <a:buNone/>
            </a:pPr>
            <a:r>
              <a:rPr lang="en-US" sz="1602" b="1" dirty="0">
                <a:solidFill>
                  <a:srgbClr val="1A1A1A"/>
                </a:solidFill>
              </a:rPr>
              <a:t>Expanding the Horizons of AIOps</a:t>
            </a:r>
            <a:endParaRPr lang="en-US" sz="1602" dirty="0"/>
          </a:p>
        </p:txBody>
      </p:sp>
      <p:sp>
        <p:nvSpPr>
          <p:cNvPr id="6" name="Text 2"/>
          <p:cNvSpPr/>
          <p:nvPr/>
        </p:nvSpPr>
        <p:spPr>
          <a:xfrm>
            <a:off x="3429000" y="1104407"/>
            <a:ext cx="5286375" cy="135731"/>
          </a:xfrm>
          <a:prstGeom prst="rect">
            <a:avLst/>
          </a:prstGeom>
          <a:noFill/>
          <a:ln/>
        </p:spPr>
        <p:txBody>
          <a:bodyPr wrap="none" lIns="0" tIns="0" rIns="0" bIns="0" rtlCol="0" anchor="t">
            <a:spAutoFit/>
          </a:bodyPr>
          <a:lstStyle/>
          <a:p>
            <a:pPr marL="0" indent="0" algn="l">
              <a:lnSpc>
                <a:spcPts val="900"/>
              </a:lnSpc>
              <a:buNone/>
            </a:pPr>
            <a:r>
              <a:rPr lang="en-US" sz="683" b="1" dirty="0">
                <a:solidFill>
                  <a:srgbClr val="0052CC"/>
                </a:solidFill>
              </a:rPr>
              <a:t>(D) Intelligent Capacity Planning</a:t>
            </a:r>
            <a:endParaRPr lang="en-US" sz="683" dirty="0"/>
          </a:p>
        </p:txBody>
      </p:sp>
      <p:sp>
        <p:nvSpPr>
          <p:cNvPr id="7" name="Text 3"/>
          <p:cNvSpPr/>
          <p:nvPr/>
        </p:nvSpPr>
        <p:spPr>
          <a:xfrm>
            <a:off x="3429000" y="1297288"/>
            <a:ext cx="5286375" cy="300038"/>
          </a:xfrm>
          <a:prstGeom prst="rect">
            <a:avLst/>
          </a:prstGeom>
          <a:noFill/>
          <a:ln/>
        </p:spPr>
        <p:txBody>
          <a:bodyPr wrap="square" lIns="0" tIns="0" rIns="0" bIns="0" rtlCol="0" anchor="t">
            <a:spAutoFit/>
          </a:bodyPr>
          <a:lstStyle/>
          <a:p>
            <a:pPr marL="0" indent="0" algn="l">
              <a:lnSpc>
                <a:spcPts val="1200"/>
              </a:lnSpc>
              <a:buNone/>
            </a:pPr>
            <a:r>
              <a:rPr lang="en-US" sz="727" dirty="0">
                <a:solidFill>
                  <a:srgbClr val="333333"/>
                </a:solidFill>
              </a:rPr>
              <a:t>AIOps can analyze historical data and trends to forecast future service load and predict potential service downtime, enabling proactive capacity planning and resource optimization.</a:t>
            </a:r>
            <a:endParaRPr lang="en-US" sz="727" dirty="0"/>
          </a:p>
        </p:txBody>
      </p:sp>
      <p:sp>
        <p:nvSpPr>
          <p:cNvPr id="8" name="Text 4"/>
          <p:cNvSpPr/>
          <p:nvPr/>
        </p:nvSpPr>
        <p:spPr>
          <a:xfrm>
            <a:off x="3429000" y="2075957"/>
            <a:ext cx="5286375" cy="135731"/>
          </a:xfrm>
          <a:prstGeom prst="rect">
            <a:avLst/>
          </a:prstGeom>
          <a:noFill/>
          <a:ln/>
        </p:spPr>
        <p:txBody>
          <a:bodyPr wrap="none" lIns="0" tIns="0" rIns="0" bIns="0" rtlCol="0" anchor="t">
            <a:spAutoFit/>
          </a:bodyPr>
          <a:lstStyle/>
          <a:p>
            <a:pPr marL="0" indent="0" algn="l">
              <a:lnSpc>
                <a:spcPts val="900"/>
              </a:lnSpc>
              <a:buNone/>
            </a:pPr>
            <a:r>
              <a:rPr lang="en-US" sz="683" b="1" dirty="0">
                <a:solidFill>
                  <a:srgbClr val="0052CC"/>
                </a:solidFill>
              </a:rPr>
              <a:t>(E) Smarter IT Help Desk</a:t>
            </a:r>
            <a:endParaRPr lang="en-US" sz="683" dirty="0"/>
          </a:p>
        </p:txBody>
      </p:sp>
      <p:sp>
        <p:nvSpPr>
          <p:cNvPr id="9" name="Text 5"/>
          <p:cNvSpPr/>
          <p:nvPr/>
        </p:nvSpPr>
        <p:spPr>
          <a:xfrm>
            <a:off x="3429000" y="2268838"/>
            <a:ext cx="5286375" cy="300038"/>
          </a:xfrm>
          <a:prstGeom prst="rect">
            <a:avLst/>
          </a:prstGeom>
          <a:noFill/>
          <a:ln/>
        </p:spPr>
        <p:txBody>
          <a:bodyPr wrap="square" lIns="0" tIns="0" rIns="0" bIns="0" rtlCol="0" anchor="t">
            <a:spAutoFit/>
          </a:bodyPr>
          <a:lstStyle/>
          <a:p>
            <a:pPr marL="0" indent="0" algn="l">
              <a:lnSpc>
                <a:spcPts val="1200"/>
              </a:lnSpc>
              <a:buNone/>
            </a:pPr>
            <a:r>
              <a:rPr lang="en-US" sz="727" dirty="0">
                <a:solidFill>
                  <a:srgbClr val="333333"/>
                </a:solidFill>
              </a:rPr>
              <a:t>By automating incident categorization and routing, and providing intelligent knowledge bases, AIOps can significantly improve the efficiency and effectiveness of the IT help desk.</a:t>
            </a:r>
            <a:endParaRPr lang="en-US" sz="727" dirty="0"/>
          </a:p>
        </p:txBody>
      </p:sp>
      <p:sp>
        <p:nvSpPr>
          <p:cNvPr id="10" name="Text 6"/>
          <p:cNvSpPr/>
          <p:nvPr/>
        </p:nvSpPr>
        <p:spPr>
          <a:xfrm>
            <a:off x="3429000" y="3047507"/>
            <a:ext cx="5286375" cy="135731"/>
          </a:xfrm>
          <a:prstGeom prst="rect">
            <a:avLst/>
          </a:prstGeom>
          <a:noFill/>
          <a:ln/>
        </p:spPr>
        <p:txBody>
          <a:bodyPr wrap="none" lIns="0" tIns="0" rIns="0" bIns="0" rtlCol="0" anchor="t">
            <a:spAutoFit/>
          </a:bodyPr>
          <a:lstStyle/>
          <a:p>
            <a:pPr marL="0" indent="0" algn="l">
              <a:lnSpc>
                <a:spcPts val="900"/>
              </a:lnSpc>
              <a:buNone/>
            </a:pPr>
            <a:r>
              <a:rPr lang="en-US" sz="683" b="1" dirty="0">
                <a:solidFill>
                  <a:srgbClr val="0052CC"/>
                </a:solidFill>
              </a:rPr>
              <a:t>(F) Other Powerful Use Cases</a:t>
            </a:r>
            <a:endParaRPr lang="en-US" sz="683" dirty="0"/>
          </a:p>
        </p:txBody>
      </p:sp>
      <p:sp>
        <p:nvSpPr>
          <p:cNvPr id="11" name="Text 7"/>
          <p:cNvSpPr/>
          <p:nvPr/>
        </p:nvSpPr>
        <p:spPr>
          <a:xfrm>
            <a:off x="3429000" y="3240388"/>
            <a:ext cx="5286375" cy="450056"/>
          </a:xfrm>
          <a:prstGeom prst="rect">
            <a:avLst/>
          </a:prstGeom>
          <a:noFill/>
          <a:ln/>
        </p:spPr>
        <p:txBody>
          <a:bodyPr wrap="square" lIns="0" tIns="0" rIns="0" bIns="0" rtlCol="0" anchor="t">
            <a:spAutoFit/>
          </a:bodyPr>
          <a:lstStyle/>
          <a:p>
            <a:pPr marL="0" indent="0" algn="l">
              <a:lnSpc>
                <a:spcPts val="1200"/>
              </a:lnSpc>
              <a:buNone/>
            </a:pPr>
            <a:r>
              <a:rPr lang="en-US" sz="727" dirty="0">
                <a:solidFill>
                  <a:srgbClr val="333333"/>
                </a:solidFill>
              </a:rPr>
              <a:t>The versatility of AIOps allows for a wide range of other applications, including automated incident root cause analysis, self-service help desks, service load forecasting, predictive service downtime, intrusion detection, spam classification, and incident categorization.</a:t>
            </a:r>
            <a:endParaRPr lang="en-US" sz="727"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Shape 0"/>
          <p:cNvSpPr/>
          <p:nvPr/>
        </p:nvSpPr>
        <p:spPr>
          <a:xfrm>
            <a:off x="0" y="0"/>
            <a:ext cx="3000375" cy="5143500"/>
          </a:xfrm>
          <a:prstGeom prst="rect">
            <a:avLst/>
          </a:prstGeom>
          <a:solidFill>
            <a:srgbClr val="FFFFFF"/>
          </a:solidFill>
          <a:ln/>
        </p:spPr>
      </p:sp>
      <p:pic>
        <p:nvPicPr>
          <p:cNvPr id="4" name="Image 1" descr="preencoded.png"/>
          <p:cNvPicPr>
            <a:picLocks noChangeAspect="1"/>
          </p:cNvPicPr>
          <p:nvPr/>
        </p:nvPicPr>
        <p:blipFill>
          <a:blip r:embed="rId4"/>
          <a:stretch>
            <a:fillRect/>
          </a:stretch>
        </p:blipFill>
        <p:spPr>
          <a:xfrm>
            <a:off x="0" y="0"/>
            <a:ext cx="3000375" cy="5143500"/>
          </a:xfrm>
          <a:prstGeom prst="rect">
            <a:avLst/>
          </a:prstGeom>
        </p:spPr>
      </p:pic>
      <p:sp>
        <p:nvSpPr>
          <p:cNvPr id="5" name="Text 1"/>
          <p:cNvSpPr/>
          <p:nvPr/>
        </p:nvSpPr>
        <p:spPr>
          <a:xfrm>
            <a:off x="3429000" y="592931"/>
            <a:ext cx="5286375" cy="594327"/>
          </a:xfrm>
          <a:prstGeom prst="rect">
            <a:avLst/>
          </a:prstGeom>
          <a:noFill/>
          <a:ln/>
        </p:spPr>
        <p:txBody>
          <a:bodyPr wrap="square" lIns="0" tIns="0" rIns="0" bIns="0" rtlCol="0" anchor="t">
            <a:spAutoFit/>
          </a:bodyPr>
          <a:lstStyle/>
          <a:p>
            <a:pPr marL="0" indent="0" algn="l">
              <a:lnSpc>
                <a:spcPts val="2300"/>
              </a:lnSpc>
              <a:buNone/>
            </a:pPr>
            <a:r>
              <a:rPr lang="en-US" sz="1602" b="1" dirty="0">
                <a:solidFill>
                  <a:srgbClr val="1A1A1A"/>
                </a:solidFill>
              </a:rPr>
              <a:t>The Future is Autonomous:
Your AIOps Journey Starts Now</a:t>
            </a:r>
            <a:endParaRPr lang="en-US" sz="1602" dirty="0"/>
          </a:p>
        </p:txBody>
      </p:sp>
      <p:sp>
        <p:nvSpPr>
          <p:cNvPr id="6" name="Text 2"/>
          <p:cNvSpPr/>
          <p:nvPr/>
        </p:nvSpPr>
        <p:spPr>
          <a:xfrm>
            <a:off x="3429000" y="1401570"/>
            <a:ext cx="2553891" cy="241102"/>
          </a:xfrm>
          <a:prstGeom prst="rect">
            <a:avLst/>
          </a:prstGeom>
          <a:noFill/>
          <a:ln/>
        </p:spPr>
        <p:txBody>
          <a:bodyPr wrap="square" lIns="0" tIns="0" rIns="0" bIns="85090" rtlCol="0" anchor="t">
            <a:spAutoFit/>
          </a:bodyPr>
          <a:lstStyle/>
          <a:p>
            <a:pPr marL="0" indent="0" algn="l">
              <a:lnSpc>
                <a:spcPts val="1100"/>
              </a:lnSpc>
              <a:buNone/>
            </a:pPr>
            <a:r>
              <a:rPr lang="en-US" sz="784" b="1" dirty="0">
                <a:solidFill>
                  <a:srgbClr val="1A1A1A"/>
                </a:solidFill>
              </a:rPr>
              <a:t>For Consumers of IT</a:t>
            </a:r>
            <a:endParaRPr lang="en-US" sz="784" dirty="0"/>
          </a:p>
        </p:txBody>
      </p:sp>
      <p:sp>
        <p:nvSpPr>
          <p:cNvPr id="7" name="Text 3"/>
          <p:cNvSpPr/>
          <p:nvPr/>
        </p:nvSpPr>
        <p:spPr>
          <a:xfrm>
            <a:off x="3429000" y="1749828"/>
            <a:ext cx="2553891" cy="140001"/>
          </a:xfrm>
          <a:prstGeom prst="rect">
            <a:avLst/>
          </a:prstGeom>
          <a:noFill/>
          <a:ln/>
        </p:spPr>
        <p:txBody>
          <a:bodyPr wrap="none" lIns="170053" tIns="0" rIns="0" bIns="0" rtlCol="0" anchor="t">
            <a:spAutoFit/>
          </a:bodyPr>
          <a:lstStyle/>
          <a:p>
            <a:pPr marL="0" indent="0" algn="l">
              <a:lnSpc>
                <a:spcPts val="1100"/>
              </a:lnSpc>
              <a:buNone/>
            </a:pPr>
            <a:r>
              <a:rPr lang="en-US" sz="727" dirty="0">
                <a:solidFill>
                  <a:srgbClr val="333333"/>
                </a:solidFill>
              </a:rPr>
              <a:t>Improved Application Performance &amp; Reliability</a:t>
            </a:r>
            <a:endParaRPr lang="en-US" sz="727" dirty="0"/>
          </a:p>
        </p:txBody>
      </p:sp>
      <p:sp>
        <p:nvSpPr>
          <p:cNvPr id="8" name="Text 4"/>
          <p:cNvSpPr/>
          <p:nvPr/>
        </p:nvSpPr>
        <p:spPr>
          <a:xfrm>
            <a:off x="3429000" y="1975554"/>
            <a:ext cx="2553891" cy="140001"/>
          </a:xfrm>
          <a:prstGeom prst="rect">
            <a:avLst/>
          </a:prstGeom>
          <a:noFill/>
          <a:ln/>
        </p:spPr>
        <p:txBody>
          <a:bodyPr wrap="none" lIns="170053" tIns="0" rIns="0" bIns="0" rtlCol="0" anchor="t">
            <a:spAutoFit/>
          </a:bodyPr>
          <a:lstStyle/>
          <a:p>
            <a:pPr marL="0" indent="0" algn="l">
              <a:lnSpc>
                <a:spcPts val="1100"/>
              </a:lnSpc>
              <a:buNone/>
            </a:pPr>
            <a:r>
              <a:rPr lang="en-US" sz="727" dirty="0">
                <a:solidFill>
                  <a:srgbClr val="333333"/>
                </a:solidFill>
              </a:rPr>
              <a:t>Better Customer Experience &amp; Satisfaction</a:t>
            </a:r>
            <a:endParaRPr lang="en-US" sz="727" dirty="0"/>
          </a:p>
        </p:txBody>
      </p:sp>
      <p:sp>
        <p:nvSpPr>
          <p:cNvPr id="9" name="Text 5"/>
          <p:cNvSpPr/>
          <p:nvPr/>
        </p:nvSpPr>
        <p:spPr>
          <a:xfrm>
            <a:off x="3429000" y="1749828"/>
            <a:ext cx="57150" cy="159981"/>
          </a:xfrm>
          <a:prstGeom prst="rect">
            <a:avLst/>
          </a:prstGeom>
          <a:noFill/>
          <a:ln/>
        </p:spPr>
        <p:txBody>
          <a:bodyPr wrap="none" lIns="0" tIns="0" rIns="0" bIns="0" rtlCol="0" anchor="t">
            <a:spAutoFit/>
          </a:bodyPr>
          <a:lstStyle/>
          <a:p>
            <a:pPr marL="0" indent="0" algn="l">
              <a:lnSpc>
                <a:spcPts val="1300"/>
              </a:lnSpc>
              <a:buNone/>
            </a:pPr>
            <a:r>
              <a:rPr lang="en-US" sz="834" dirty="0">
                <a:solidFill>
                  <a:srgbClr val="FF4500"/>
                </a:solidFill>
              </a:rPr>
              <a:t>▸</a:t>
            </a:r>
            <a:endParaRPr lang="en-US" sz="834" dirty="0"/>
          </a:p>
        </p:txBody>
      </p:sp>
      <p:sp>
        <p:nvSpPr>
          <p:cNvPr id="10" name="Text 6"/>
          <p:cNvSpPr/>
          <p:nvPr/>
        </p:nvSpPr>
        <p:spPr>
          <a:xfrm>
            <a:off x="3429000" y="1975554"/>
            <a:ext cx="57150" cy="159981"/>
          </a:xfrm>
          <a:prstGeom prst="rect">
            <a:avLst/>
          </a:prstGeom>
          <a:noFill/>
          <a:ln/>
        </p:spPr>
        <p:txBody>
          <a:bodyPr wrap="none" lIns="0" tIns="0" rIns="0" bIns="0" rtlCol="0" anchor="t">
            <a:spAutoFit/>
          </a:bodyPr>
          <a:lstStyle/>
          <a:p>
            <a:pPr marL="0" indent="0" algn="l">
              <a:lnSpc>
                <a:spcPts val="1300"/>
              </a:lnSpc>
              <a:buNone/>
            </a:pPr>
            <a:r>
              <a:rPr lang="en-US" sz="834" dirty="0">
                <a:solidFill>
                  <a:srgbClr val="FF4500"/>
                </a:solidFill>
              </a:rPr>
              <a:t>▸</a:t>
            </a:r>
            <a:endParaRPr lang="en-US" sz="834" dirty="0"/>
          </a:p>
        </p:txBody>
      </p:sp>
      <p:sp>
        <p:nvSpPr>
          <p:cNvPr id="11" name="Text 7"/>
          <p:cNvSpPr/>
          <p:nvPr/>
        </p:nvSpPr>
        <p:spPr>
          <a:xfrm>
            <a:off x="6161484" y="1401570"/>
            <a:ext cx="2553891" cy="241102"/>
          </a:xfrm>
          <a:prstGeom prst="rect">
            <a:avLst/>
          </a:prstGeom>
          <a:noFill/>
          <a:ln/>
        </p:spPr>
        <p:txBody>
          <a:bodyPr wrap="square" lIns="0" tIns="0" rIns="0" bIns="85090" rtlCol="0" anchor="t">
            <a:spAutoFit/>
          </a:bodyPr>
          <a:lstStyle/>
          <a:p>
            <a:pPr marL="0" indent="0" algn="l">
              <a:lnSpc>
                <a:spcPts val="1100"/>
              </a:lnSpc>
              <a:buNone/>
            </a:pPr>
            <a:r>
              <a:rPr lang="en-US" sz="784" b="1" dirty="0">
                <a:solidFill>
                  <a:srgbClr val="1A1A1A"/>
                </a:solidFill>
              </a:rPr>
              <a:t>For Producers of IT</a:t>
            </a:r>
            <a:endParaRPr lang="en-US" sz="784" dirty="0"/>
          </a:p>
        </p:txBody>
      </p:sp>
      <p:sp>
        <p:nvSpPr>
          <p:cNvPr id="12" name="Text 8"/>
          <p:cNvSpPr/>
          <p:nvPr/>
        </p:nvSpPr>
        <p:spPr>
          <a:xfrm>
            <a:off x="6161484" y="1749828"/>
            <a:ext cx="2553891" cy="140001"/>
          </a:xfrm>
          <a:prstGeom prst="rect">
            <a:avLst/>
          </a:prstGeom>
          <a:noFill/>
          <a:ln/>
        </p:spPr>
        <p:txBody>
          <a:bodyPr wrap="none" lIns="170053" tIns="0" rIns="0" bIns="0" rtlCol="0" anchor="t">
            <a:spAutoFit/>
          </a:bodyPr>
          <a:lstStyle/>
          <a:p>
            <a:pPr marL="0" indent="0" algn="l">
              <a:lnSpc>
                <a:spcPts val="1100"/>
              </a:lnSpc>
              <a:buNone/>
            </a:pPr>
            <a:r>
              <a:rPr lang="en-US" sz="727" dirty="0">
                <a:solidFill>
                  <a:srgbClr val="333333"/>
                </a:solidFill>
              </a:rPr>
              <a:t>Increased IT Predictability &amp; Efficiency</a:t>
            </a:r>
            <a:endParaRPr lang="en-US" sz="727" dirty="0"/>
          </a:p>
        </p:txBody>
      </p:sp>
      <p:sp>
        <p:nvSpPr>
          <p:cNvPr id="13" name="Text 9"/>
          <p:cNvSpPr/>
          <p:nvPr/>
        </p:nvSpPr>
        <p:spPr>
          <a:xfrm>
            <a:off x="6161484" y="1975554"/>
            <a:ext cx="2553891" cy="140001"/>
          </a:xfrm>
          <a:prstGeom prst="rect">
            <a:avLst/>
          </a:prstGeom>
          <a:noFill/>
          <a:ln/>
        </p:spPr>
        <p:txBody>
          <a:bodyPr wrap="none" lIns="170053" tIns="0" rIns="0" bIns="0" rtlCol="0" anchor="t">
            <a:spAutoFit/>
          </a:bodyPr>
          <a:lstStyle/>
          <a:p>
            <a:pPr marL="0" indent="0" algn="l">
              <a:lnSpc>
                <a:spcPts val="1100"/>
              </a:lnSpc>
              <a:buNone/>
            </a:pPr>
            <a:r>
              <a:rPr lang="en-US" sz="727" dirty="0">
                <a:solidFill>
                  <a:srgbClr val="333333"/>
                </a:solidFill>
              </a:rPr>
              <a:t>Faster Problem Resolution</a:t>
            </a:r>
            <a:endParaRPr lang="en-US" sz="727" dirty="0"/>
          </a:p>
        </p:txBody>
      </p:sp>
      <p:sp>
        <p:nvSpPr>
          <p:cNvPr id="14" name="Text 10"/>
          <p:cNvSpPr/>
          <p:nvPr/>
        </p:nvSpPr>
        <p:spPr>
          <a:xfrm>
            <a:off x="6161484" y="2201280"/>
            <a:ext cx="2553891" cy="140001"/>
          </a:xfrm>
          <a:prstGeom prst="rect">
            <a:avLst/>
          </a:prstGeom>
          <a:noFill/>
          <a:ln/>
        </p:spPr>
        <p:txBody>
          <a:bodyPr wrap="none" lIns="170053" tIns="0" rIns="0" bIns="0" rtlCol="0" anchor="t">
            <a:spAutoFit/>
          </a:bodyPr>
          <a:lstStyle/>
          <a:p>
            <a:pPr marL="0" indent="0" algn="l">
              <a:lnSpc>
                <a:spcPts val="1100"/>
              </a:lnSpc>
              <a:buNone/>
            </a:pPr>
            <a:r>
              <a:rPr lang="en-US" sz="727" dirty="0">
                <a:solidFill>
                  <a:srgbClr val="333333"/>
                </a:solidFill>
              </a:rPr>
              <a:t>Reduced Operational Costs</a:t>
            </a:r>
            <a:endParaRPr lang="en-US" sz="727" dirty="0"/>
          </a:p>
        </p:txBody>
      </p:sp>
      <p:sp>
        <p:nvSpPr>
          <p:cNvPr id="15" name="Text 11"/>
          <p:cNvSpPr/>
          <p:nvPr/>
        </p:nvSpPr>
        <p:spPr>
          <a:xfrm>
            <a:off x="6161484" y="1749828"/>
            <a:ext cx="57150" cy="159981"/>
          </a:xfrm>
          <a:prstGeom prst="rect">
            <a:avLst/>
          </a:prstGeom>
          <a:noFill/>
          <a:ln/>
        </p:spPr>
        <p:txBody>
          <a:bodyPr wrap="none" lIns="0" tIns="0" rIns="0" bIns="0" rtlCol="0" anchor="t">
            <a:spAutoFit/>
          </a:bodyPr>
          <a:lstStyle/>
          <a:p>
            <a:pPr marL="0" indent="0" algn="l">
              <a:lnSpc>
                <a:spcPts val="1300"/>
              </a:lnSpc>
              <a:buNone/>
            </a:pPr>
            <a:r>
              <a:rPr lang="en-US" sz="834" dirty="0">
                <a:solidFill>
                  <a:srgbClr val="FF4500"/>
                </a:solidFill>
              </a:rPr>
              <a:t>▸</a:t>
            </a:r>
            <a:endParaRPr lang="en-US" sz="834" dirty="0"/>
          </a:p>
        </p:txBody>
      </p:sp>
      <p:sp>
        <p:nvSpPr>
          <p:cNvPr id="16" name="Text 12"/>
          <p:cNvSpPr/>
          <p:nvPr/>
        </p:nvSpPr>
        <p:spPr>
          <a:xfrm>
            <a:off x="6161484" y="1975554"/>
            <a:ext cx="57150" cy="159981"/>
          </a:xfrm>
          <a:prstGeom prst="rect">
            <a:avLst/>
          </a:prstGeom>
          <a:noFill/>
          <a:ln/>
        </p:spPr>
        <p:txBody>
          <a:bodyPr wrap="none" lIns="0" tIns="0" rIns="0" bIns="0" rtlCol="0" anchor="t">
            <a:spAutoFit/>
          </a:bodyPr>
          <a:lstStyle/>
          <a:p>
            <a:pPr marL="0" indent="0" algn="l">
              <a:lnSpc>
                <a:spcPts val="1300"/>
              </a:lnSpc>
              <a:buNone/>
            </a:pPr>
            <a:r>
              <a:rPr lang="en-US" sz="834" dirty="0">
                <a:solidFill>
                  <a:srgbClr val="FF4500"/>
                </a:solidFill>
              </a:rPr>
              <a:t>▸</a:t>
            </a:r>
            <a:endParaRPr lang="en-US" sz="834" dirty="0"/>
          </a:p>
        </p:txBody>
      </p:sp>
      <p:sp>
        <p:nvSpPr>
          <p:cNvPr id="17" name="Text 13"/>
          <p:cNvSpPr/>
          <p:nvPr/>
        </p:nvSpPr>
        <p:spPr>
          <a:xfrm>
            <a:off x="6161484" y="2201280"/>
            <a:ext cx="57150" cy="159981"/>
          </a:xfrm>
          <a:prstGeom prst="rect">
            <a:avLst/>
          </a:prstGeom>
          <a:noFill/>
          <a:ln/>
        </p:spPr>
        <p:txBody>
          <a:bodyPr wrap="none" lIns="0" tIns="0" rIns="0" bIns="0" rtlCol="0" anchor="t">
            <a:spAutoFit/>
          </a:bodyPr>
          <a:lstStyle/>
          <a:p>
            <a:pPr marL="0" indent="0" algn="l">
              <a:lnSpc>
                <a:spcPts val="1300"/>
              </a:lnSpc>
              <a:buNone/>
            </a:pPr>
            <a:r>
              <a:rPr lang="en-US" sz="834" dirty="0">
                <a:solidFill>
                  <a:srgbClr val="FF4500"/>
                </a:solidFill>
              </a:rPr>
              <a:t>▸</a:t>
            </a:r>
            <a:endParaRPr lang="en-US" sz="834" dirty="0"/>
          </a:p>
        </p:txBody>
      </p:sp>
      <p:sp>
        <p:nvSpPr>
          <p:cNvPr id="18" name="Text 14"/>
          <p:cNvSpPr/>
          <p:nvPr/>
        </p:nvSpPr>
        <p:spPr>
          <a:xfrm>
            <a:off x="3429000" y="3155668"/>
            <a:ext cx="5286375" cy="155377"/>
          </a:xfrm>
          <a:prstGeom prst="rect">
            <a:avLst/>
          </a:prstGeom>
          <a:noFill/>
          <a:ln/>
        </p:spPr>
        <p:txBody>
          <a:bodyPr wrap="none" lIns="0" tIns="0" rIns="0" bIns="0" rtlCol="0" anchor="t">
            <a:spAutoFit/>
          </a:bodyPr>
          <a:lstStyle/>
          <a:p>
            <a:pPr marL="0" indent="0" algn="l">
              <a:lnSpc>
                <a:spcPts val="1100"/>
              </a:lnSpc>
              <a:buNone/>
            </a:pPr>
            <a:r>
              <a:rPr lang="en-US" sz="784" b="1" dirty="0">
                <a:solidFill>
                  <a:srgbClr val="1A1A1A"/>
                </a:solidFill>
              </a:rPr>
              <a:t>Key Takeaways</a:t>
            </a:r>
            <a:endParaRPr lang="en-US" sz="784" dirty="0"/>
          </a:p>
        </p:txBody>
      </p:sp>
      <p:sp>
        <p:nvSpPr>
          <p:cNvPr id="19" name="Text 15"/>
          <p:cNvSpPr/>
          <p:nvPr/>
        </p:nvSpPr>
        <p:spPr>
          <a:xfrm>
            <a:off x="3429000" y="3418201"/>
            <a:ext cx="5286375" cy="140001"/>
          </a:xfrm>
          <a:prstGeom prst="rect">
            <a:avLst/>
          </a:prstGeom>
          <a:noFill/>
          <a:ln/>
        </p:spPr>
        <p:txBody>
          <a:bodyPr wrap="none" lIns="170053" tIns="0" rIns="0" bIns="0" rtlCol="0" anchor="t">
            <a:spAutoFit/>
          </a:bodyPr>
          <a:lstStyle/>
          <a:p>
            <a:pPr marL="0" indent="0" algn="l">
              <a:lnSpc>
                <a:spcPts val="1100"/>
              </a:lnSpc>
              <a:buNone/>
            </a:pPr>
            <a:r>
              <a:rPr lang="en-US" sz="727" dirty="0">
                <a:solidFill>
                  <a:srgbClr val="333333"/>
                </a:solidFill>
              </a:rPr>
              <a:t>ITOps is the backbone of your IT, but it's facing unprecedented challenges.</a:t>
            </a:r>
            <a:endParaRPr lang="en-US" sz="727" dirty="0"/>
          </a:p>
        </p:txBody>
      </p:sp>
      <p:sp>
        <p:nvSpPr>
          <p:cNvPr id="20" name="Text 16"/>
          <p:cNvSpPr/>
          <p:nvPr/>
        </p:nvSpPr>
        <p:spPr>
          <a:xfrm>
            <a:off x="3429000" y="3643926"/>
            <a:ext cx="5286375" cy="140001"/>
          </a:xfrm>
          <a:prstGeom prst="rect">
            <a:avLst/>
          </a:prstGeom>
          <a:noFill/>
          <a:ln/>
        </p:spPr>
        <p:txBody>
          <a:bodyPr wrap="none" lIns="170053" tIns="0" rIns="0" bIns="0" rtlCol="0" anchor="t">
            <a:spAutoFit/>
          </a:bodyPr>
          <a:lstStyle/>
          <a:p>
            <a:pPr marL="0" indent="0" algn="l">
              <a:lnSpc>
                <a:spcPts val="1100"/>
              </a:lnSpc>
              <a:buNone/>
            </a:pPr>
            <a:r>
              <a:rPr lang="en-US" sz="727" dirty="0">
                <a:solidFill>
                  <a:srgbClr val="333333"/>
                </a:solidFill>
              </a:rPr>
              <a:t>AIOps is the key to overcoming these challenges and transforming IT operations.</a:t>
            </a:r>
            <a:endParaRPr lang="en-US" sz="727" dirty="0"/>
          </a:p>
        </p:txBody>
      </p:sp>
      <p:sp>
        <p:nvSpPr>
          <p:cNvPr id="21" name="Text 17"/>
          <p:cNvSpPr/>
          <p:nvPr/>
        </p:nvSpPr>
        <p:spPr>
          <a:xfrm>
            <a:off x="3429000" y="3869652"/>
            <a:ext cx="5286375" cy="140001"/>
          </a:xfrm>
          <a:prstGeom prst="rect">
            <a:avLst/>
          </a:prstGeom>
          <a:noFill/>
          <a:ln/>
        </p:spPr>
        <p:txBody>
          <a:bodyPr wrap="none" lIns="170053" tIns="0" rIns="0" bIns="0" rtlCol="0" anchor="t">
            <a:spAutoFit/>
          </a:bodyPr>
          <a:lstStyle/>
          <a:p>
            <a:pPr marL="0" indent="0" algn="l">
              <a:lnSpc>
                <a:spcPts val="1100"/>
              </a:lnSpc>
              <a:buNone/>
            </a:pPr>
            <a:r>
              <a:rPr lang="en-US" sz="727" dirty="0">
                <a:solidFill>
                  <a:srgbClr val="333333"/>
                </a:solidFill>
              </a:rPr>
              <a:t>The benefits of AIOps are real and can be realized today.</a:t>
            </a:r>
            <a:endParaRPr lang="en-US" sz="727" dirty="0"/>
          </a:p>
        </p:txBody>
      </p:sp>
      <p:sp>
        <p:nvSpPr>
          <p:cNvPr id="22" name="Text 18"/>
          <p:cNvSpPr/>
          <p:nvPr/>
        </p:nvSpPr>
        <p:spPr>
          <a:xfrm>
            <a:off x="3429000" y="4238253"/>
            <a:ext cx="5286375" cy="303609"/>
          </a:xfrm>
          <a:prstGeom prst="rect">
            <a:avLst/>
          </a:prstGeom>
          <a:noFill/>
          <a:ln/>
        </p:spPr>
        <p:txBody>
          <a:bodyPr wrap="square" lIns="0" tIns="170053" rIns="0" bIns="0" rtlCol="0" anchor="t">
            <a:spAutoFit/>
          </a:bodyPr>
          <a:lstStyle/>
          <a:p>
            <a:pPr marL="0" indent="0" algn="l">
              <a:lnSpc>
                <a:spcPts val="1000"/>
              </a:lnSpc>
              <a:buNone/>
            </a:pPr>
            <a:r>
              <a:rPr lang="en-US" sz="734" b="1" dirty="0">
                <a:solidFill>
                  <a:srgbClr val="FF4500"/>
                </a:solidFill>
              </a:rPr>
              <a:t>Start Your AIOps Journey Today</a:t>
            </a:r>
            <a:endParaRPr lang="en-US" sz="734" dirty="0"/>
          </a:p>
        </p:txBody>
      </p:sp>
      <p:sp>
        <p:nvSpPr>
          <p:cNvPr id="23" name="Text 19"/>
          <p:cNvSpPr/>
          <p:nvPr/>
        </p:nvSpPr>
        <p:spPr>
          <a:xfrm>
            <a:off x="3429000" y="3418201"/>
            <a:ext cx="82628" cy="159981"/>
          </a:xfrm>
          <a:prstGeom prst="rect">
            <a:avLst/>
          </a:prstGeom>
          <a:noFill/>
          <a:ln/>
        </p:spPr>
        <p:txBody>
          <a:bodyPr wrap="none" lIns="0" tIns="0" rIns="0" bIns="0" rtlCol="0" anchor="t">
            <a:spAutoFit/>
          </a:bodyPr>
          <a:lstStyle/>
          <a:p>
            <a:pPr marL="0" indent="0" algn="l">
              <a:lnSpc>
                <a:spcPts val="1300"/>
              </a:lnSpc>
              <a:buNone/>
            </a:pPr>
            <a:r>
              <a:rPr lang="en-US" sz="784" b="1" dirty="0">
                <a:solidFill>
                  <a:srgbClr val="0052CC"/>
                </a:solidFill>
              </a:rPr>
              <a:t>✓</a:t>
            </a:r>
            <a:endParaRPr lang="en-US" sz="784" dirty="0"/>
          </a:p>
        </p:txBody>
      </p:sp>
      <p:sp>
        <p:nvSpPr>
          <p:cNvPr id="24" name="Text 20"/>
          <p:cNvSpPr/>
          <p:nvPr/>
        </p:nvSpPr>
        <p:spPr>
          <a:xfrm>
            <a:off x="3429000" y="3643926"/>
            <a:ext cx="82628" cy="159981"/>
          </a:xfrm>
          <a:prstGeom prst="rect">
            <a:avLst/>
          </a:prstGeom>
          <a:noFill/>
          <a:ln/>
        </p:spPr>
        <p:txBody>
          <a:bodyPr wrap="none" lIns="0" tIns="0" rIns="0" bIns="0" rtlCol="0" anchor="t">
            <a:spAutoFit/>
          </a:bodyPr>
          <a:lstStyle/>
          <a:p>
            <a:pPr marL="0" indent="0" algn="l">
              <a:lnSpc>
                <a:spcPts val="1300"/>
              </a:lnSpc>
              <a:buNone/>
            </a:pPr>
            <a:r>
              <a:rPr lang="en-US" sz="784" b="1" dirty="0">
                <a:solidFill>
                  <a:srgbClr val="0052CC"/>
                </a:solidFill>
              </a:rPr>
              <a:t>✓</a:t>
            </a:r>
            <a:endParaRPr lang="en-US" sz="784" dirty="0"/>
          </a:p>
        </p:txBody>
      </p:sp>
      <p:sp>
        <p:nvSpPr>
          <p:cNvPr id="25" name="Text 21"/>
          <p:cNvSpPr/>
          <p:nvPr/>
        </p:nvSpPr>
        <p:spPr>
          <a:xfrm>
            <a:off x="3429000" y="3869652"/>
            <a:ext cx="82628" cy="159981"/>
          </a:xfrm>
          <a:prstGeom prst="rect">
            <a:avLst/>
          </a:prstGeom>
          <a:noFill/>
          <a:ln/>
        </p:spPr>
        <p:txBody>
          <a:bodyPr wrap="none" lIns="0" tIns="0" rIns="0" bIns="0" rtlCol="0" anchor="t">
            <a:spAutoFit/>
          </a:bodyPr>
          <a:lstStyle/>
          <a:p>
            <a:pPr marL="0" indent="0" algn="l">
              <a:lnSpc>
                <a:spcPts val="1300"/>
              </a:lnSpc>
              <a:buNone/>
            </a:pPr>
            <a:r>
              <a:rPr lang="en-US" sz="784" b="1" dirty="0">
                <a:solidFill>
                  <a:srgbClr val="0052CC"/>
                </a:solidFill>
              </a:rPr>
              <a:t>✓</a:t>
            </a:r>
            <a:endParaRPr lang="en-US" sz="784"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945</Words>
  <Application>Microsoft Office PowerPoint</Application>
  <PresentationFormat>On-screen Show (16:9)</PresentationFormat>
  <Paragraphs>123</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DELL</cp:lastModifiedBy>
  <cp:revision>2</cp:revision>
  <dcterms:created xsi:type="dcterms:W3CDTF">2025-12-22T16:24:12Z</dcterms:created>
  <dcterms:modified xsi:type="dcterms:W3CDTF">2025-12-22T16:29:32Z</dcterms:modified>
</cp:coreProperties>
</file>