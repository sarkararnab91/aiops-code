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1438433"/>
            <a:ext cx="3714750" cy="1097235"/>
          </a:xfrm>
          <a:prstGeom prst="rect">
            <a:avLst/>
          </a:prstGeom>
          <a:noFill/>
          <a:ln/>
        </p:spPr>
        <p:txBody>
          <a:bodyPr wrap="square" lIns="0" tIns="0" rIns="0" bIns="0" rtlCol="0" anchor="t">
            <a:spAutoFit/>
          </a:bodyPr>
          <a:lstStyle/>
          <a:p>
            <a:pPr algn="l" indent="0" marL="0">
              <a:lnSpc>
                <a:spcPts val="4300"/>
              </a:lnSpc>
              <a:buNone/>
            </a:pPr>
            <a:r>
              <a:rPr lang="en-US" sz="3294" b="1" spc="-1" kern="0" dirty="0">
                <a:solidFill>
                  <a:srgbClr val="1A1A1A"/>
                </a:solidFill>
              </a:rPr>
              <a:t>The Future of IT Operations</a:t>
            </a:r>
            <a:endParaRPr lang="en-US" sz="3294" dirty="0"/>
          </a:p>
        </p:txBody>
      </p:sp>
      <p:sp>
        <p:nvSpPr>
          <p:cNvPr id="4" name="Text 1"/>
          <p:cNvSpPr/>
          <p:nvPr/>
        </p:nvSpPr>
        <p:spPr>
          <a:xfrm>
            <a:off x="571500" y="2678543"/>
            <a:ext cx="3714750" cy="594327"/>
          </a:xfrm>
          <a:prstGeom prst="rect">
            <a:avLst/>
          </a:prstGeom>
          <a:noFill/>
          <a:ln/>
        </p:spPr>
        <p:txBody>
          <a:bodyPr wrap="square" lIns="0" tIns="0" rIns="0" bIns="0" rtlCol="0" anchor="t">
            <a:spAutoFit/>
          </a:bodyPr>
          <a:lstStyle/>
          <a:p>
            <a:pPr algn="l" indent="0" marL="0">
              <a:lnSpc>
                <a:spcPts val="2300"/>
              </a:lnSpc>
              <a:buNone/>
            </a:pPr>
            <a:r>
              <a:rPr lang="en-US" sz="1704" dirty="0">
                <a:solidFill>
                  <a:srgbClr val="333333"/>
                </a:solidFill>
              </a:rPr>
              <a:t>An Introduction to ITOps and AIOps</a:t>
            </a:r>
            <a:endParaRPr lang="en-US" sz="1704" dirty="0"/>
          </a:p>
        </p:txBody>
      </p:sp>
      <p:sp>
        <p:nvSpPr>
          <p:cNvPr id="5" name="Text 2"/>
          <p:cNvSpPr/>
          <p:nvPr/>
        </p:nvSpPr>
        <p:spPr>
          <a:xfrm>
            <a:off x="571500" y="3558620"/>
            <a:ext cx="3714750" cy="389334"/>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FF4500"/>
                </a:solidFill>
              </a:rPr>
              <a:t>Transforming IT Operations with Intelligence and Automation</a:t>
            </a:r>
            <a:endParaRPr lang="en-US" sz="1050" dirty="0"/>
          </a:p>
        </p:txBody>
      </p:sp>
      <p:pic>
        <p:nvPicPr>
          <p:cNvPr id="6" name="Image 1" descr="preencoded.png">    </p:cNvPr>
          <p:cNvPicPr>
            <a:picLocks noChangeAspect="1"/>
          </p:cNvPicPr>
          <p:nvPr/>
        </p:nvPicPr>
        <p:blipFill>
          <a:blip r:embed="rId2"/>
          <a:stretch>
            <a:fillRect/>
          </a:stretch>
        </p:blipFill>
        <p:spPr>
          <a:xfrm>
            <a:off x="4572000" y="0"/>
            <a:ext cx="4572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3000375" cy="5143500"/>
          </a:xfrm>
          <a:prstGeom prst="rect">
            <a:avLst/>
          </a:prstGeom>
          <a:solidFill>
            <a:srgbClr val="FFFFFF"/>
          </a:solidFill>
          <a:ln/>
        </p:spPr>
      </p:sp>
      <p:pic>
        <p:nvPicPr>
          <p:cNvPr id="4" name="Image 1" descr="preencoded.png">    </p:cNvPr>
          <p:cNvPicPr>
            <a:picLocks noChangeAspect="1"/>
          </p:cNvPicPr>
          <p:nvPr/>
        </p:nvPicPr>
        <p:blipFill>
          <a:blip r:embed="rId2"/>
          <a:stretch>
            <a:fillRect/>
          </a:stretch>
        </p:blipFill>
        <p:spPr>
          <a:xfrm>
            <a:off x="0" y="0"/>
            <a:ext cx="3000375" cy="5143500"/>
          </a:xfrm>
          <a:prstGeom prst="rect">
            <a:avLst/>
          </a:prstGeom>
        </p:spPr>
      </p:pic>
      <p:sp>
        <p:nvSpPr>
          <p:cNvPr id="5" name="Text 1"/>
          <p:cNvSpPr/>
          <p:nvPr/>
        </p:nvSpPr>
        <p:spPr>
          <a:xfrm>
            <a:off x="3429000" y="592931"/>
            <a:ext cx="5286375"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1A1A"/>
                </a:solidFill>
              </a:rPr>
              <a:t>What is ITOps?</a:t>
            </a:r>
            <a:pPr algn="l" indent="0" marL="0">
              <a:lnSpc>
                <a:spcPts val="2300"/>
              </a:lnSpc>
              <a:buNone/>
            </a:pPr>
            <a:r>
              <a:rPr lang="en-US" sz="1602" b="1" dirty="0">
                <a:solidFill>
                  <a:srgbClr val="1A1A1A"/>
                </a:solidFill>
              </a:rPr>
              <a:t>
</a:t>
            </a:r>
            <a:pPr algn="l" indent="0" marL="0">
              <a:lnSpc>
                <a:spcPts val="2300"/>
              </a:lnSpc>
              <a:buNone/>
            </a:pPr>
            <a:r>
              <a:rPr lang="en-US" sz="1602" b="1" dirty="0">
                <a:solidFill>
                  <a:srgbClr val="1A1A1A"/>
                </a:solidFill>
              </a:rPr>
              <a:t>The Engine of Your IT</a:t>
            </a:r>
            <a:endParaRPr lang="en-US" sz="1602" dirty="0"/>
          </a:p>
        </p:txBody>
      </p:sp>
      <p:sp>
        <p:nvSpPr>
          <p:cNvPr id="6" name="Text 2"/>
          <p:cNvSpPr/>
          <p:nvPr/>
        </p:nvSpPr>
        <p:spPr>
          <a:xfrm>
            <a:off x="3429000" y="1365852"/>
            <a:ext cx="5286375"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IT Operations (ITOps) is the central nervous system of an organization's IT. It encompasses all the processes and services for managing, maintaining, and supporting the IT infrastructure. The primary goal of ITOps is to ensure the smooth and efficient operation of all IT systems and services, which are critical for business continuity and success.</a:t>
            </a:r>
            <a:endParaRPr lang="en-US" sz="834" dirty="0"/>
          </a:p>
        </p:txBody>
      </p:sp>
      <p:sp>
        <p:nvSpPr>
          <p:cNvPr id="7" name="Text 3"/>
          <p:cNvSpPr/>
          <p:nvPr/>
        </p:nvSpPr>
        <p:spPr>
          <a:xfrm>
            <a:off x="3429000" y="2311617"/>
            <a:ext cx="71438" cy="214313"/>
          </a:xfrm>
          <a:prstGeom prst="rect">
            <a:avLst/>
          </a:prstGeom>
          <a:noFill/>
          <a:ln/>
        </p:spPr>
        <p:txBody>
          <a:bodyPr wrap="none" lIns="0" tIns="0" rIns="0" bIns="0" rtlCol="0" anchor="t">
            <a:spAutoFit/>
          </a:bodyPr>
          <a:lstStyle/>
          <a:p>
            <a:pPr algn="l" indent="0" marL="0">
              <a:lnSpc>
                <a:spcPts val="1700"/>
              </a:lnSpc>
              <a:buNone/>
            </a:pPr>
            <a:r>
              <a:rPr lang="en-US" sz="1050" dirty="0">
                <a:solidFill>
                  <a:srgbClr val="0052CC"/>
                </a:solidFill>
              </a:rPr>
              <a:t>▸</a:t>
            </a:r>
            <a:endParaRPr lang="en-US" sz="1050" dirty="0"/>
          </a:p>
        </p:txBody>
      </p:sp>
      <p:sp>
        <p:nvSpPr>
          <p:cNvPr id="8" name="Text 4"/>
          <p:cNvSpPr/>
          <p:nvPr/>
        </p:nvSpPr>
        <p:spPr>
          <a:xfrm>
            <a:off x="3643313" y="2318761"/>
            <a:ext cx="1349220" cy="155377"/>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rPr>
              <a:t>Resource Management:</a:t>
            </a:r>
            <a:endParaRPr lang="en-US" sz="784" dirty="0"/>
          </a:p>
        </p:txBody>
      </p:sp>
      <p:sp>
        <p:nvSpPr>
          <p:cNvPr id="9" name="Text 5"/>
          <p:cNvSpPr/>
          <p:nvPr/>
        </p:nvSpPr>
        <p:spPr>
          <a:xfrm>
            <a:off x="4992532" y="2318761"/>
            <a:ext cx="3251606"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333333"/>
                </a:solidFill>
              </a:rPr>
              <a:t>Overseeing hardware, software, and network infrastructure.</a:t>
            </a:r>
            <a:endParaRPr lang="en-US" sz="834" dirty="0"/>
          </a:p>
        </p:txBody>
      </p:sp>
      <p:sp>
        <p:nvSpPr>
          <p:cNvPr id="10" name="Text 6"/>
          <p:cNvSpPr/>
          <p:nvPr/>
        </p:nvSpPr>
        <p:spPr>
          <a:xfrm>
            <a:off x="3429000" y="2611655"/>
            <a:ext cx="71438" cy="214313"/>
          </a:xfrm>
          <a:prstGeom prst="rect">
            <a:avLst/>
          </a:prstGeom>
          <a:noFill/>
          <a:ln/>
        </p:spPr>
        <p:txBody>
          <a:bodyPr wrap="none" lIns="0" tIns="0" rIns="0" bIns="0" rtlCol="0" anchor="t">
            <a:spAutoFit/>
          </a:bodyPr>
          <a:lstStyle/>
          <a:p>
            <a:pPr algn="l" indent="0" marL="0">
              <a:lnSpc>
                <a:spcPts val="1700"/>
              </a:lnSpc>
              <a:buNone/>
            </a:pPr>
            <a:r>
              <a:rPr lang="en-US" sz="1050" dirty="0">
                <a:solidFill>
                  <a:srgbClr val="0052CC"/>
                </a:solidFill>
              </a:rPr>
              <a:t>▸</a:t>
            </a:r>
            <a:endParaRPr lang="en-US" sz="1050" dirty="0"/>
          </a:p>
        </p:txBody>
      </p:sp>
      <p:sp>
        <p:nvSpPr>
          <p:cNvPr id="11" name="Text 7"/>
          <p:cNvSpPr/>
          <p:nvPr/>
        </p:nvSpPr>
        <p:spPr>
          <a:xfrm>
            <a:off x="3643313" y="2618798"/>
            <a:ext cx="1628775" cy="155377"/>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rPr>
              <a:t>Infrastructure Optimization:</a:t>
            </a:r>
            <a:endParaRPr lang="en-US" sz="784" dirty="0"/>
          </a:p>
        </p:txBody>
      </p:sp>
      <p:sp>
        <p:nvSpPr>
          <p:cNvPr id="12" name="Text 8"/>
          <p:cNvSpPr/>
          <p:nvPr/>
        </p:nvSpPr>
        <p:spPr>
          <a:xfrm>
            <a:off x="5272088" y="2618798"/>
            <a:ext cx="2375520"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333333"/>
                </a:solidFill>
              </a:rPr>
              <a:t>Enhancing performance and cost-efficiency.</a:t>
            </a:r>
            <a:endParaRPr lang="en-US" sz="834" dirty="0"/>
          </a:p>
        </p:txBody>
      </p:sp>
      <p:sp>
        <p:nvSpPr>
          <p:cNvPr id="13" name="Text 9"/>
          <p:cNvSpPr/>
          <p:nvPr/>
        </p:nvSpPr>
        <p:spPr>
          <a:xfrm>
            <a:off x="3429000" y="2911692"/>
            <a:ext cx="71438" cy="214313"/>
          </a:xfrm>
          <a:prstGeom prst="rect">
            <a:avLst/>
          </a:prstGeom>
          <a:noFill/>
          <a:ln/>
        </p:spPr>
        <p:txBody>
          <a:bodyPr wrap="none" lIns="0" tIns="0" rIns="0" bIns="0" rtlCol="0" anchor="t">
            <a:spAutoFit/>
          </a:bodyPr>
          <a:lstStyle/>
          <a:p>
            <a:pPr algn="l" indent="0" marL="0">
              <a:lnSpc>
                <a:spcPts val="1700"/>
              </a:lnSpc>
              <a:buNone/>
            </a:pPr>
            <a:r>
              <a:rPr lang="en-US" sz="1050" dirty="0">
                <a:solidFill>
                  <a:srgbClr val="0052CC"/>
                </a:solidFill>
              </a:rPr>
              <a:t>▸</a:t>
            </a:r>
            <a:endParaRPr lang="en-US" sz="1050" dirty="0"/>
          </a:p>
        </p:txBody>
      </p:sp>
      <p:sp>
        <p:nvSpPr>
          <p:cNvPr id="14" name="Text 10"/>
          <p:cNvSpPr/>
          <p:nvPr/>
        </p:nvSpPr>
        <p:spPr>
          <a:xfrm>
            <a:off x="3643313" y="2918836"/>
            <a:ext cx="1454479" cy="155377"/>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rPr>
              <a:t>Application Performance:</a:t>
            </a:r>
            <a:endParaRPr lang="en-US" sz="784" dirty="0"/>
          </a:p>
        </p:txBody>
      </p:sp>
      <p:sp>
        <p:nvSpPr>
          <p:cNvPr id="15" name="Text 11"/>
          <p:cNvSpPr/>
          <p:nvPr/>
        </p:nvSpPr>
        <p:spPr>
          <a:xfrm>
            <a:off x="5097791" y="2918836"/>
            <a:ext cx="2734187"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333333"/>
                </a:solidFill>
              </a:rPr>
              <a:t>Ensuring applications meet business expectations.</a:t>
            </a:r>
            <a:endParaRPr lang="en-US" sz="834" dirty="0"/>
          </a:p>
        </p:txBody>
      </p:sp>
      <p:sp>
        <p:nvSpPr>
          <p:cNvPr id="16" name="Text 12"/>
          <p:cNvSpPr/>
          <p:nvPr/>
        </p:nvSpPr>
        <p:spPr>
          <a:xfrm>
            <a:off x="3429000" y="3211730"/>
            <a:ext cx="71438" cy="214313"/>
          </a:xfrm>
          <a:prstGeom prst="rect">
            <a:avLst/>
          </a:prstGeom>
          <a:noFill/>
          <a:ln/>
        </p:spPr>
        <p:txBody>
          <a:bodyPr wrap="none" lIns="0" tIns="0" rIns="0" bIns="0" rtlCol="0" anchor="t">
            <a:spAutoFit/>
          </a:bodyPr>
          <a:lstStyle/>
          <a:p>
            <a:pPr algn="l" indent="0" marL="0">
              <a:lnSpc>
                <a:spcPts val="1700"/>
              </a:lnSpc>
              <a:buNone/>
            </a:pPr>
            <a:r>
              <a:rPr lang="en-US" sz="1050" dirty="0">
                <a:solidFill>
                  <a:srgbClr val="0052CC"/>
                </a:solidFill>
              </a:rPr>
              <a:t>▸</a:t>
            </a:r>
            <a:endParaRPr lang="en-US" sz="1050" dirty="0"/>
          </a:p>
        </p:txBody>
      </p:sp>
      <p:sp>
        <p:nvSpPr>
          <p:cNvPr id="17" name="Text 13"/>
          <p:cNvSpPr/>
          <p:nvPr/>
        </p:nvSpPr>
        <p:spPr>
          <a:xfrm>
            <a:off x="3643313" y="3218873"/>
            <a:ext cx="1235478" cy="155377"/>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rPr>
              <a:t>Service Desk Support:</a:t>
            </a:r>
            <a:endParaRPr lang="en-US" sz="784" dirty="0"/>
          </a:p>
        </p:txBody>
      </p:sp>
      <p:sp>
        <p:nvSpPr>
          <p:cNvPr id="18" name="Text 14"/>
          <p:cNvSpPr/>
          <p:nvPr/>
        </p:nvSpPr>
        <p:spPr>
          <a:xfrm>
            <a:off x="4878791" y="3218873"/>
            <a:ext cx="2483290"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333333"/>
                </a:solidFill>
              </a:rPr>
              <a:t>Providing timely technical assistance to users.</a:t>
            </a:r>
            <a:endParaRPr lang="en-US" sz="834" dirty="0"/>
          </a:p>
        </p:txBody>
      </p:sp>
      <p:sp>
        <p:nvSpPr>
          <p:cNvPr id="19" name="Text 15"/>
          <p:cNvSpPr/>
          <p:nvPr/>
        </p:nvSpPr>
        <p:spPr>
          <a:xfrm>
            <a:off x="3429000" y="3511767"/>
            <a:ext cx="71438" cy="214313"/>
          </a:xfrm>
          <a:prstGeom prst="rect">
            <a:avLst/>
          </a:prstGeom>
          <a:noFill/>
          <a:ln/>
        </p:spPr>
        <p:txBody>
          <a:bodyPr wrap="none" lIns="0" tIns="0" rIns="0" bIns="0" rtlCol="0" anchor="t">
            <a:spAutoFit/>
          </a:bodyPr>
          <a:lstStyle/>
          <a:p>
            <a:pPr algn="l" indent="0" marL="0">
              <a:lnSpc>
                <a:spcPts val="1700"/>
              </a:lnSpc>
              <a:buNone/>
            </a:pPr>
            <a:r>
              <a:rPr lang="en-US" sz="1050" dirty="0">
                <a:solidFill>
                  <a:srgbClr val="0052CC"/>
                </a:solidFill>
              </a:rPr>
              <a:t>▸</a:t>
            </a:r>
            <a:endParaRPr lang="en-US" sz="1050" dirty="0"/>
          </a:p>
        </p:txBody>
      </p:sp>
      <p:sp>
        <p:nvSpPr>
          <p:cNvPr id="20" name="Text 16"/>
          <p:cNvSpPr/>
          <p:nvPr/>
        </p:nvSpPr>
        <p:spPr>
          <a:xfrm>
            <a:off x="3643313" y="3518911"/>
            <a:ext cx="1916367" cy="155377"/>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rPr>
              <a:t>Incident &amp; Security Management:</a:t>
            </a:r>
            <a:endParaRPr lang="en-US" sz="784" dirty="0"/>
          </a:p>
        </p:txBody>
      </p:sp>
      <p:sp>
        <p:nvSpPr>
          <p:cNvPr id="21" name="Text 17"/>
          <p:cNvSpPr/>
          <p:nvPr/>
        </p:nvSpPr>
        <p:spPr>
          <a:xfrm>
            <a:off x="3643313" y="3518911"/>
            <a:ext cx="4777299" cy="3268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Safeguarding the IT environment and ensuring rapid recovery.</a:t>
            </a:r>
            <a:endParaRPr lang="en-US" sz="8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592931"/>
            <a:ext cx="542925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1A1A1A"/>
                </a:solidFill>
              </a:rPr>
              <a:t>Core Functions of IT Operations</a:t>
            </a:r>
            <a:endParaRPr lang="en-US" sz="1602" dirty="0"/>
          </a:p>
        </p:txBody>
      </p:sp>
      <p:sp>
        <p:nvSpPr>
          <p:cNvPr id="4" name="Shape 1"/>
          <p:cNvSpPr/>
          <p:nvPr/>
        </p:nvSpPr>
        <p:spPr>
          <a:xfrm>
            <a:off x="428625" y="1104407"/>
            <a:ext cx="5429250" cy="307181"/>
          </a:xfrm>
          <a:prstGeom prst="rect">
            <a:avLst/>
          </a:prstGeom>
          <a:solidFill>
            <a:srgbClr val="E8E8E8"/>
          </a:solidFill>
          <a:ln/>
        </p:spPr>
      </p:sp>
      <p:sp>
        <p:nvSpPr>
          <p:cNvPr id="5" name="Shape 2"/>
          <p:cNvSpPr/>
          <p:nvPr/>
        </p:nvSpPr>
        <p:spPr>
          <a:xfrm>
            <a:off x="428625" y="1104407"/>
            <a:ext cx="1523907" cy="307181"/>
          </a:xfrm>
          <a:prstGeom prst="rect">
            <a:avLst/>
          </a:prstGeom>
          <a:solidFill>
            <a:srgbClr val="1A1A1A"/>
          </a:solidFill>
          <a:ln/>
        </p:spPr>
      </p:sp>
      <p:sp>
        <p:nvSpPr>
          <p:cNvPr id="6" name="Text 3"/>
          <p:cNvSpPr/>
          <p:nvPr/>
        </p:nvSpPr>
        <p:spPr>
          <a:xfrm>
            <a:off x="428625" y="1104407"/>
            <a:ext cx="1523907" cy="307181"/>
          </a:xfrm>
          <a:prstGeom prst="rect">
            <a:avLst/>
          </a:prstGeom>
          <a:noFill/>
          <a:ln/>
        </p:spPr>
        <p:txBody>
          <a:bodyPr wrap="square" lIns="127508" tIns="102108" rIns="127508" bIns="102108" rtlCol="0" anchor="ctr">
            <a:spAutoFit/>
          </a:bodyPr>
          <a:lstStyle/>
          <a:p>
            <a:pPr algn="l" indent="0" marL="0">
              <a:lnSpc>
                <a:spcPts val="900"/>
              </a:lnSpc>
              <a:buNone/>
            </a:pPr>
            <a:r>
              <a:rPr lang="en-US" sz="683" b="1" dirty="0">
                <a:solidFill>
                  <a:srgbClr val="F2F2F2"/>
                </a:solidFill>
              </a:rPr>
              <a:t>Function</a:t>
            </a:r>
            <a:endParaRPr lang="en-US" sz="683" dirty="0"/>
          </a:p>
        </p:txBody>
      </p:sp>
      <p:sp>
        <p:nvSpPr>
          <p:cNvPr id="7" name="Shape 4"/>
          <p:cNvSpPr/>
          <p:nvPr/>
        </p:nvSpPr>
        <p:spPr>
          <a:xfrm>
            <a:off x="1952532" y="1104407"/>
            <a:ext cx="3905343" cy="307181"/>
          </a:xfrm>
          <a:prstGeom prst="rect">
            <a:avLst/>
          </a:prstGeom>
          <a:solidFill>
            <a:srgbClr val="1A1A1A"/>
          </a:solidFill>
          <a:ln/>
        </p:spPr>
      </p:sp>
      <p:sp>
        <p:nvSpPr>
          <p:cNvPr id="8" name="Text 5"/>
          <p:cNvSpPr/>
          <p:nvPr/>
        </p:nvSpPr>
        <p:spPr>
          <a:xfrm>
            <a:off x="1952532" y="1104407"/>
            <a:ext cx="3905343" cy="307181"/>
          </a:xfrm>
          <a:prstGeom prst="rect">
            <a:avLst/>
          </a:prstGeom>
          <a:noFill/>
          <a:ln/>
        </p:spPr>
        <p:txBody>
          <a:bodyPr wrap="square" lIns="127508" tIns="102108" rIns="127508" bIns="102108" rtlCol="0" anchor="ctr">
            <a:spAutoFit/>
          </a:bodyPr>
          <a:lstStyle/>
          <a:p>
            <a:pPr algn="l" indent="0" marL="0">
              <a:lnSpc>
                <a:spcPts val="900"/>
              </a:lnSpc>
              <a:buNone/>
            </a:pPr>
            <a:r>
              <a:rPr lang="en-US" sz="683" b="1" dirty="0">
                <a:solidFill>
                  <a:srgbClr val="F2F2F2"/>
                </a:solidFill>
              </a:rPr>
              <a:t>Description</a:t>
            </a:r>
            <a:endParaRPr lang="en-US" sz="683" dirty="0"/>
          </a:p>
        </p:txBody>
      </p:sp>
      <p:sp>
        <p:nvSpPr>
          <p:cNvPr id="9" name="Shape 6"/>
          <p:cNvSpPr/>
          <p:nvPr/>
        </p:nvSpPr>
        <p:spPr>
          <a:xfrm>
            <a:off x="428625" y="1411588"/>
            <a:ext cx="5429250" cy="455023"/>
          </a:xfrm>
          <a:prstGeom prst="rect">
            <a:avLst/>
          </a:prstGeom>
          <a:solidFill>
            <a:srgbClr val="E8E8E8"/>
          </a:solidFill>
          <a:ln/>
        </p:spPr>
      </p:sp>
      <p:sp>
        <p:nvSpPr>
          <p:cNvPr id="10" name="Text 7"/>
          <p:cNvSpPr/>
          <p:nvPr/>
        </p:nvSpPr>
        <p:spPr>
          <a:xfrm>
            <a:off x="535781" y="1569086"/>
            <a:ext cx="1134461" cy="13573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0052CC"/>
                </a:solidFill>
              </a:rPr>
              <a:t>Network Management</a:t>
            </a:r>
            <a:endParaRPr lang="en-US" sz="683" dirty="0"/>
          </a:p>
        </p:txBody>
      </p:sp>
      <p:sp>
        <p:nvSpPr>
          <p:cNvPr id="11" name="Text 8"/>
          <p:cNvSpPr/>
          <p:nvPr/>
        </p:nvSpPr>
        <p:spPr>
          <a:xfrm>
            <a:off x="1952532" y="1411588"/>
            <a:ext cx="3905343" cy="455023"/>
          </a:xfrm>
          <a:prstGeom prst="rect">
            <a:avLst/>
          </a:prstGeom>
          <a:noFill/>
          <a:ln/>
        </p:spPr>
        <p:txBody>
          <a:bodyPr wrap="square" lIns="127508" tIns="102108" rIns="127508" bIns="102108" rtlCol="0" anchor="ctr">
            <a:spAutoFit/>
          </a:bodyPr>
          <a:lstStyle/>
          <a:p>
            <a:pPr algn="l" indent="0" marL="0">
              <a:lnSpc>
                <a:spcPts val="1100"/>
              </a:lnSpc>
              <a:buNone/>
            </a:pPr>
            <a:r>
              <a:rPr lang="en-US" sz="727" dirty="0">
                <a:solidFill>
                  <a:srgbClr val="333333"/>
                </a:solidFill>
              </a:rPr>
              <a:t>Ensures the availability, performance, and security of the organization's network infrastructure.</a:t>
            </a:r>
            <a:endParaRPr lang="en-US" sz="727" dirty="0"/>
          </a:p>
        </p:txBody>
      </p:sp>
      <p:sp>
        <p:nvSpPr>
          <p:cNvPr id="12" name="Shape 9"/>
          <p:cNvSpPr/>
          <p:nvPr/>
        </p:nvSpPr>
        <p:spPr>
          <a:xfrm>
            <a:off x="428625" y="1866612"/>
            <a:ext cx="5429250" cy="458595"/>
          </a:xfrm>
          <a:prstGeom prst="rect">
            <a:avLst/>
          </a:prstGeom>
          <a:solidFill>
            <a:srgbClr val="FFFFFF"/>
          </a:solidFill>
          <a:ln/>
        </p:spPr>
      </p:sp>
      <p:sp>
        <p:nvSpPr>
          <p:cNvPr id="13" name="Text 10"/>
          <p:cNvSpPr/>
          <p:nvPr/>
        </p:nvSpPr>
        <p:spPr>
          <a:xfrm>
            <a:off x="535781" y="1957694"/>
            <a:ext cx="777106" cy="275732"/>
          </a:xfrm>
          <a:prstGeom prst="rect">
            <a:avLst/>
          </a:prstGeom>
          <a:noFill/>
          <a:ln/>
        </p:spPr>
        <p:txBody>
          <a:bodyPr wrap="square" lIns="0" tIns="0" rIns="0" bIns="0" rtlCol="0" anchor="t">
            <a:spAutoFit/>
          </a:bodyPr>
          <a:lstStyle/>
          <a:p>
            <a:pPr algn="l" indent="0" marL="0">
              <a:lnSpc>
                <a:spcPts val="1100"/>
              </a:lnSpc>
              <a:buNone/>
            </a:pPr>
            <a:r>
              <a:rPr lang="en-US" sz="683" b="1" dirty="0">
                <a:solidFill>
                  <a:srgbClr val="0052CC"/>
                </a:solidFill>
              </a:rPr>
              <a:t>Server &amp; Device Management</a:t>
            </a:r>
            <a:endParaRPr lang="en-US" sz="683" dirty="0"/>
          </a:p>
        </p:txBody>
      </p:sp>
      <p:sp>
        <p:nvSpPr>
          <p:cNvPr id="14" name="Text 11"/>
          <p:cNvSpPr/>
          <p:nvPr/>
        </p:nvSpPr>
        <p:spPr>
          <a:xfrm>
            <a:off x="1952532" y="1866612"/>
            <a:ext cx="3905343" cy="458595"/>
          </a:xfrm>
          <a:prstGeom prst="rect">
            <a:avLst/>
          </a:prstGeom>
          <a:noFill/>
          <a:ln/>
        </p:spPr>
        <p:txBody>
          <a:bodyPr wrap="square" lIns="127508" tIns="102108" rIns="127508" bIns="102108" rtlCol="0" anchor="ctr">
            <a:spAutoFit/>
          </a:bodyPr>
          <a:lstStyle/>
          <a:p>
            <a:pPr algn="l" indent="0" marL="0">
              <a:lnSpc>
                <a:spcPts val="1100"/>
              </a:lnSpc>
              <a:buNone/>
            </a:pPr>
            <a:r>
              <a:rPr lang="en-US" sz="727" dirty="0">
                <a:solidFill>
                  <a:srgbClr val="333333"/>
                </a:solidFill>
              </a:rPr>
              <a:t>Manages the lifecycle of physical and virtual servers, as well as end-user devices.</a:t>
            </a:r>
            <a:endParaRPr lang="en-US" sz="727" dirty="0"/>
          </a:p>
        </p:txBody>
      </p:sp>
      <p:sp>
        <p:nvSpPr>
          <p:cNvPr id="15" name="Shape 12"/>
          <p:cNvSpPr/>
          <p:nvPr/>
        </p:nvSpPr>
        <p:spPr>
          <a:xfrm>
            <a:off x="428625" y="2325207"/>
            <a:ext cx="5429250" cy="458595"/>
          </a:xfrm>
          <a:prstGeom prst="rect">
            <a:avLst/>
          </a:prstGeom>
          <a:solidFill>
            <a:srgbClr val="E8E8E8"/>
          </a:solidFill>
          <a:ln/>
        </p:spPr>
      </p:sp>
      <p:sp>
        <p:nvSpPr>
          <p:cNvPr id="16" name="Text 13"/>
          <p:cNvSpPr/>
          <p:nvPr/>
        </p:nvSpPr>
        <p:spPr>
          <a:xfrm>
            <a:off x="535781" y="2486276"/>
            <a:ext cx="1265672" cy="13573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0052CC"/>
                </a:solidFill>
              </a:rPr>
              <a:t>Application Management</a:t>
            </a:r>
            <a:endParaRPr lang="en-US" sz="683" dirty="0"/>
          </a:p>
        </p:txBody>
      </p:sp>
      <p:sp>
        <p:nvSpPr>
          <p:cNvPr id="17" name="Text 14"/>
          <p:cNvSpPr/>
          <p:nvPr/>
        </p:nvSpPr>
        <p:spPr>
          <a:xfrm>
            <a:off x="1952532" y="2325207"/>
            <a:ext cx="3905343" cy="458595"/>
          </a:xfrm>
          <a:prstGeom prst="rect">
            <a:avLst/>
          </a:prstGeom>
          <a:noFill/>
          <a:ln/>
        </p:spPr>
        <p:txBody>
          <a:bodyPr wrap="square" lIns="127508" tIns="102108" rIns="127508" bIns="102108" rtlCol="0" anchor="ctr">
            <a:spAutoFit/>
          </a:bodyPr>
          <a:lstStyle/>
          <a:p>
            <a:pPr algn="l" indent="0" marL="0">
              <a:lnSpc>
                <a:spcPts val="1100"/>
              </a:lnSpc>
              <a:buNone/>
            </a:pPr>
            <a:r>
              <a:rPr lang="en-US" sz="727" dirty="0">
                <a:solidFill>
                  <a:srgbClr val="333333"/>
                </a:solidFill>
              </a:rPr>
              <a:t>Guarantees that all software applications are available, reliable, and performing optimally.</a:t>
            </a:r>
            <a:endParaRPr lang="en-US" sz="727" dirty="0"/>
          </a:p>
        </p:txBody>
      </p:sp>
      <p:sp>
        <p:nvSpPr>
          <p:cNvPr id="18" name="Shape 15"/>
          <p:cNvSpPr/>
          <p:nvPr/>
        </p:nvSpPr>
        <p:spPr>
          <a:xfrm>
            <a:off x="428625" y="2783802"/>
            <a:ext cx="5429250" cy="458595"/>
          </a:xfrm>
          <a:prstGeom prst="rect">
            <a:avLst/>
          </a:prstGeom>
          <a:solidFill>
            <a:srgbClr val="FFFFFF"/>
          </a:solidFill>
          <a:ln/>
        </p:spPr>
      </p:sp>
      <p:sp>
        <p:nvSpPr>
          <p:cNvPr id="19" name="Text 16"/>
          <p:cNvSpPr/>
          <p:nvPr/>
        </p:nvSpPr>
        <p:spPr>
          <a:xfrm>
            <a:off x="535781" y="2944871"/>
            <a:ext cx="1169956" cy="13573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0052CC"/>
                </a:solidFill>
              </a:rPr>
              <a:t>Help Desk/Service Desk</a:t>
            </a:r>
            <a:endParaRPr lang="en-US" sz="683" dirty="0"/>
          </a:p>
        </p:txBody>
      </p:sp>
      <p:sp>
        <p:nvSpPr>
          <p:cNvPr id="20" name="Text 17"/>
          <p:cNvSpPr/>
          <p:nvPr/>
        </p:nvSpPr>
        <p:spPr>
          <a:xfrm>
            <a:off x="1952532" y="2783802"/>
            <a:ext cx="3905343" cy="458595"/>
          </a:xfrm>
          <a:prstGeom prst="rect">
            <a:avLst/>
          </a:prstGeom>
          <a:noFill/>
          <a:ln/>
        </p:spPr>
        <p:txBody>
          <a:bodyPr wrap="square" lIns="127508" tIns="102108" rIns="127508" bIns="102108" rtlCol="0" anchor="ctr">
            <a:spAutoFit/>
          </a:bodyPr>
          <a:lstStyle/>
          <a:p>
            <a:pPr algn="l" indent="0" marL="0">
              <a:lnSpc>
                <a:spcPts val="1100"/>
              </a:lnSpc>
              <a:buNone/>
            </a:pPr>
            <a:r>
              <a:rPr lang="en-US" sz="727" dirty="0">
                <a:solidFill>
                  <a:srgbClr val="333333"/>
                </a:solidFill>
              </a:rPr>
              <a:t>Acts as the single point of contact for users to report IT issues and request services.</a:t>
            </a:r>
            <a:endParaRPr lang="en-US" sz="727" dirty="0"/>
          </a:p>
        </p:txBody>
      </p:sp>
      <p:sp>
        <p:nvSpPr>
          <p:cNvPr id="21" name="Shape 18"/>
          <p:cNvSpPr/>
          <p:nvPr/>
        </p:nvSpPr>
        <p:spPr>
          <a:xfrm>
            <a:off x="428625" y="3242397"/>
            <a:ext cx="5429250" cy="458595"/>
          </a:xfrm>
          <a:prstGeom prst="rect">
            <a:avLst/>
          </a:prstGeom>
          <a:solidFill>
            <a:srgbClr val="E8E8E8"/>
          </a:solidFill>
          <a:ln/>
        </p:spPr>
      </p:sp>
      <p:sp>
        <p:nvSpPr>
          <p:cNvPr id="22" name="Text 19"/>
          <p:cNvSpPr/>
          <p:nvPr/>
        </p:nvSpPr>
        <p:spPr>
          <a:xfrm>
            <a:off x="535781" y="3403467"/>
            <a:ext cx="990637" cy="13573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0052CC"/>
                </a:solidFill>
              </a:rPr>
              <a:t>Security Operations</a:t>
            </a:r>
            <a:endParaRPr lang="en-US" sz="683" dirty="0"/>
          </a:p>
        </p:txBody>
      </p:sp>
      <p:sp>
        <p:nvSpPr>
          <p:cNvPr id="23" name="Text 20"/>
          <p:cNvSpPr/>
          <p:nvPr/>
        </p:nvSpPr>
        <p:spPr>
          <a:xfrm>
            <a:off x="1952532" y="3242397"/>
            <a:ext cx="3905343" cy="458595"/>
          </a:xfrm>
          <a:prstGeom prst="rect">
            <a:avLst/>
          </a:prstGeom>
          <a:noFill/>
          <a:ln/>
        </p:spPr>
        <p:txBody>
          <a:bodyPr wrap="square" lIns="127508" tIns="102108" rIns="127508" bIns="102108" rtlCol="0" anchor="ctr">
            <a:spAutoFit/>
          </a:bodyPr>
          <a:lstStyle/>
          <a:p>
            <a:pPr algn="l" indent="0" marL="0">
              <a:lnSpc>
                <a:spcPts val="1100"/>
              </a:lnSpc>
              <a:buNone/>
            </a:pPr>
            <a:r>
              <a:rPr lang="en-US" sz="727" dirty="0">
                <a:solidFill>
                  <a:srgbClr val="333333"/>
                </a:solidFill>
              </a:rPr>
              <a:t>Protects the organization's data and IT assets from internal and external threats.</a:t>
            </a:r>
            <a:endParaRPr lang="en-US" sz="727" dirty="0"/>
          </a:p>
        </p:txBody>
      </p:sp>
      <p:sp>
        <p:nvSpPr>
          <p:cNvPr id="24" name="Shape 21"/>
          <p:cNvSpPr/>
          <p:nvPr/>
        </p:nvSpPr>
        <p:spPr>
          <a:xfrm>
            <a:off x="6143625" y="0"/>
            <a:ext cx="3000375" cy="5143500"/>
          </a:xfrm>
          <a:prstGeom prst="rect">
            <a:avLst/>
          </a:prstGeom>
          <a:solidFill>
            <a:srgbClr val="FFFFFF"/>
          </a:solidFill>
          <a:ln/>
        </p:spPr>
      </p:sp>
      <p:pic>
        <p:nvPicPr>
          <p:cNvPr id="25" name="Image 1" descr="preencoded.png">    </p:cNvPr>
          <p:cNvPicPr>
            <a:picLocks noChangeAspect="1"/>
          </p:cNvPicPr>
          <p:nvPr/>
        </p:nvPicPr>
        <p:blipFill>
          <a:blip r:embed="rId2"/>
          <a:stretch>
            <a:fillRect/>
          </a:stretch>
        </p:blipFill>
        <p:spPr>
          <a:xfrm>
            <a:off x="6143625" y="0"/>
            <a:ext cx="3000375"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521494"/>
            <a:ext cx="828675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1A1A1A"/>
                </a:solidFill>
              </a:rPr>
              <a:t>ITOps Goals: Striving for Operational Excellence</a:t>
            </a:r>
            <a:endParaRPr lang="en-US" sz="1602" dirty="0"/>
          </a:p>
        </p:txBody>
      </p:sp>
      <p:sp>
        <p:nvSpPr>
          <p:cNvPr id="4" name="Shape 1"/>
          <p:cNvSpPr/>
          <p:nvPr/>
        </p:nvSpPr>
        <p:spPr>
          <a:xfrm>
            <a:off x="428625" y="1104407"/>
            <a:ext cx="2619356" cy="1190830"/>
          </a:xfrm>
          <a:prstGeom prst="rect">
            <a:avLst/>
          </a:prstGeom>
          <a:solidFill>
            <a:srgbClr val="FFFFFF"/>
          </a:solidFill>
          <a:ln/>
        </p:spPr>
      </p:sp>
      <p:sp>
        <p:nvSpPr>
          <p:cNvPr id="5" name="Shape 2"/>
          <p:cNvSpPr/>
          <p:nvPr/>
        </p:nvSpPr>
        <p:spPr>
          <a:xfrm>
            <a:off x="428625" y="1104407"/>
            <a:ext cx="28575" cy="1190830"/>
          </a:xfrm>
          <a:prstGeom prst="rect">
            <a:avLst/>
          </a:prstGeom>
          <a:solidFill>
            <a:srgbClr val="0052CC"/>
          </a:solidFill>
          <a:ln/>
        </p:spPr>
      </p:sp>
      <p:sp>
        <p:nvSpPr>
          <p:cNvPr id="6" name="Text 3"/>
          <p:cNvSpPr/>
          <p:nvPr/>
        </p:nvSpPr>
        <p:spPr>
          <a:xfrm>
            <a:off x="642938" y="1318720"/>
            <a:ext cx="2190731"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Efficiency</a:t>
            </a:r>
            <a:endParaRPr lang="en-US" sz="885" dirty="0"/>
          </a:p>
        </p:txBody>
      </p:sp>
      <p:sp>
        <p:nvSpPr>
          <p:cNvPr id="7" name="Text 4"/>
          <p:cNvSpPr/>
          <p:nvPr/>
        </p:nvSpPr>
        <p:spPr>
          <a:xfrm>
            <a:off x="642938" y="1600898"/>
            <a:ext cx="2190731" cy="32001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Streamlining processes and automating tasks to reduce manual effort and operational costs.</a:t>
            </a:r>
            <a:endParaRPr lang="en-US" sz="727" dirty="0"/>
          </a:p>
        </p:txBody>
      </p:sp>
      <p:sp>
        <p:nvSpPr>
          <p:cNvPr id="8" name="Shape 5"/>
          <p:cNvSpPr/>
          <p:nvPr/>
        </p:nvSpPr>
        <p:spPr>
          <a:xfrm>
            <a:off x="3262294" y="1104407"/>
            <a:ext cx="2619384" cy="1190830"/>
          </a:xfrm>
          <a:prstGeom prst="rect">
            <a:avLst/>
          </a:prstGeom>
          <a:solidFill>
            <a:srgbClr val="FFFFFF"/>
          </a:solidFill>
          <a:ln/>
        </p:spPr>
      </p:sp>
      <p:sp>
        <p:nvSpPr>
          <p:cNvPr id="9" name="Shape 6"/>
          <p:cNvSpPr/>
          <p:nvPr/>
        </p:nvSpPr>
        <p:spPr>
          <a:xfrm>
            <a:off x="3262294" y="1104407"/>
            <a:ext cx="28575" cy="1190830"/>
          </a:xfrm>
          <a:prstGeom prst="rect">
            <a:avLst/>
          </a:prstGeom>
          <a:solidFill>
            <a:srgbClr val="FF4500"/>
          </a:solidFill>
          <a:ln/>
        </p:spPr>
      </p:sp>
      <p:sp>
        <p:nvSpPr>
          <p:cNvPr id="10" name="Text 7"/>
          <p:cNvSpPr/>
          <p:nvPr/>
        </p:nvSpPr>
        <p:spPr>
          <a:xfrm>
            <a:off x="3476606" y="1318720"/>
            <a:ext cx="2190759"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Reliability</a:t>
            </a:r>
            <a:endParaRPr lang="en-US" sz="885" dirty="0"/>
          </a:p>
        </p:txBody>
      </p:sp>
      <p:sp>
        <p:nvSpPr>
          <p:cNvPr id="11" name="Text 8"/>
          <p:cNvSpPr/>
          <p:nvPr/>
        </p:nvSpPr>
        <p:spPr>
          <a:xfrm>
            <a:off x="3476606" y="1600898"/>
            <a:ext cx="2190759" cy="480027"/>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Maximizing the uptime and availability of critical IT services to support business operations.</a:t>
            </a:r>
            <a:endParaRPr lang="en-US" sz="727" dirty="0"/>
          </a:p>
        </p:txBody>
      </p:sp>
      <p:sp>
        <p:nvSpPr>
          <p:cNvPr id="12" name="Shape 9"/>
          <p:cNvSpPr/>
          <p:nvPr/>
        </p:nvSpPr>
        <p:spPr>
          <a:xfrm>
            <a:off x="6095991" y="1104407"/>
            <a:ext cx="2619356" cy="1190830"/>
          </a:xfrm>
          <a:prstGeom prst="rect">
            <a:avLst/>
          </a:prstGeom>
          <a:solidFill>
            <a:srgbClr val="FFFFFF"/>
          </a:solidFill>
          <a:ln/>
        </p:spPr>
      </p:sp>
      <p:sp>
        <p:nvSpPr>
          <p:cNvPr id="13" name="Shape 10"/>
          <p:cNvSpPr/>
          <p:nvPr/>
        </p:nvSpPr>
        <p:spPr>
          <a:xfrm>
            <a:off x="6095991" y="1104407"/>
            <a:ext cx="28575" cy="1190830"/>
          </a:xfrm>
          <a:prstGeom prst="rect">
            <a:avLst/>
          </a:prstGeom>
          <a:solidFill>
            <a:srgbClr val="0052CC"/>
          </a:solidFill>
          <a:ln/>
        </p:spPr>
      </p:sp>
      <p:sp>
        <p:nvSpPr>
          <p:cNvPr id="14" name="Text 11"/>
          <p:cNvSpPr/>
          <p:nvPr/>
        </p:nvSpPr>
        <p:spPr>
          <a:xfrm>
            <a:off x="6310303" y="1318720"/>
            <a:ext cx="2190731"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Productivity</a:t>
            </a:r>
            <a:endParaRPr lang="en-US" sz="885" dirty="0"/>
          </a:p>
        </p:txBody>
      </p:sp>
      <p:sp>
        <p:nvSpPr>
          <p:cNvPr id="15" name="Text 12"/>
          <p:cNvSpPr/>
          <p:nvPr/>
        </p:nvSpPr>
        <p:spPr>
          <a:xfrm>
            <a:off x="6310303" y="1600898"/>
            <a:ext cx="2190731" cy="480027"/>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Empowering both IT staff and end-users with reliable and high-performing tools and systems.</a:t>
            </a:r>
            <a:endParaRPr lang="en-US" sz="727" dirty="0"/>
          </a:p>
        </p:txBody>
      </p:sp>
      <p:sp>
        <p:nvSpPr>
          <p:cNvPr id="16" name="Text 13"/>
          <p:cNvSpPr/>
          <p:nvPr/>
        </p:nvSpPr>
        <p:spPr>
          <a:xfrm>
            <a:off x="428625" y="2723862"/>
            <a:ext cx="828675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Connecting to SLAs, SLOs, and SLIs</a:t>
            </a:r>
            <a:endParaRPr lang="en-US" sz="885" dirty="0"/>
          </a:p>
        </p:txBody>
      </p:sp>
      <p:sp>
        <p:nvSpPr>
          <p:cNvPr id="17" name="Text 14"/>
          <p:cNvSpPr/>
          <p:nvPr/>
        </p:nvSpPr>
        <p:spPr>
          <a:xfrm>
            <a:off x="428625" y="3077477"/>
            <a:ext cx="8286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1A1A"/>
                </a:solidFill>
              </a:rPr>
              <a:t>SLAs (Service Level Agreements)</a:t>
            </a:r>
            <a:endParaRPr lang="en-US" sz="683" dirty="0"/>
          </a:p>
        </p:txBody>
      </p:sp>
      <p:sp>
        <p:nvSpPr>
          <p:cNvPr id="18" name="Text 15"/>
          <p:cNvSpPr/>
          <p:nvPr/>
        </p:nvSpPr>
        <p:spPr>
          <a:xfrm>
            <a:off x="428625" y="3270359"/>
            <a:ext cx="8286750" cy="160009"/>
          </a:xfrm>
          <a:prstGeom prst="rect">
            <a:avLst/>
          </a:prstGeom>
          <a:noFill/>
          <a:ln/>
        </p:spPr>
        <p:txBody>
          <a:bodyPr wrap="none" lIns="170053" tIns="0" rIns="0" bIns="0" rtlCol="0" anchor="t">
            <a:spAutoFit/>
          </a:bodyPr>
          <a:lstStyle/>
          <a:p>
            <a:pPr algn="l" indent="0" marL="0">
              <a:lnSpc>
                <a:spcPts val="1300"/>
              </a:lnSpc>
              <a:buNone/>
            </a:pPr>
            <a:r>
              <a:rPr lang="en-US" sz="727" dirty="0">
                <a:solidFill>
                  <a:srgbClr val="333333"/>
                </a:solidFill>
              </a:rPr>
              <a:t>Formal commitments made to end-users or customers about service performance.</a:t>
            </a:r>
            <a:endParaRPr lang="en-US" sz="727" dirty="0"/>
          </a:p>
        </p:txBody>
      </p:sp>
      <p:sp>
        <p:nvSpPr>
          <p:cNvPr id="19" name="Text 16"/>
          <p:cNvSpPr/>
          <p:nvPr/>
        </p:nvSpPr>
        <p:spPr>
          <a:xfrm>
            <a:off x="428625" y="3537524"/>
            <a:ext cx="8286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1A1A"/>
                </a:solidFill>
              </a:rPr>
              <a:t>SLOs (Service Level Objectives)</a:t>
            </a:r>
            <a:endParaRPr lang="en-US" sz="683" dirty="0"/>
          </a:p>
        </p:txBody>
      </p:sp>
      <p:sp>
        <p:nvSpPr>
          <p:cNvPr id="20" name="Text 17"/>
          <p:cNvSpPr/>
          <p:nvPr/>
        </p:nvSpPr>
        <p:spPr>
          <a:xfrm>
            <a:off x="428625" y="3730405"/>
            <a:ext cx="8286750" cy="160009"/>
          </a:xfrm>
          <a:prstGeom prst="rect">
            <a:avLst/>
          </a:prstGeom>
          <a:noFill/>
          <a:ln/>
        </p:spPr>
        <p:txBody>
          <a:bodyPr wrap="none" lIns="170053" tIns="0" rIns="0" bIns="0" rtlCol="0" anchor="t">
            <a:spAutoFit/>
          </a:bodyPr>
          <a:lstStyle/>
          <a:p>
            <a:pPr algn="l" indent="0" marL="0">
              <a:lnSpc>
                <a:spcPts val="1300"/>
              </a:lnSpc>
              <a:buNone/>
            </a:pPr>
            <a:r>
              <a:rPr lang="en-US" sz="727" dirty="0">
                <a:solidFill>
                  <a:srgbClr val="333333"/>
                </a:solidFill>
              </a:rPr>
              <a:t>Specific, measurable targets that the IT team aims to achieve to meet the SLAs.</a:t>
            </a:r>
            <a:endParaRPr lang="en-US" sz="727" dirty="0"/>
          </a:p>
        </p:txBody>
      </p:sp>
      <p:sp>
        <p:nvSpPr>
          <p:cNvPr id="21" name="Text 18"/>
          <p:cNvSpPr/>
          <p:nvPr/>
        </p:nvSpPr>
        <p:spPr>
          <a:xfrm>
            <a:off x="428625" y="3997570"/>
            <a:ext cx="8286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1A1A"/>
                </a:solidFill>
              </a:rPr>
              <a:t>SLIs (Service Level Indicators)</a:t>
            </a:r>
            <a:endParaRPr lang="en-US" sz="683" dirty="0"/>
          </a:p>
        </p:txBody>
      </p:sp>
      <p:sp>
        <p:nvSpPr>
          <p:cNvPr id="22" name="Text 19"/>
          <p:cNvSpPr/>
          <p:nvPr/>
        </p:nvSpPr>
        <p:spPr>
          <a:xfrm>
            <a:off x="428625" y="4190451"/>
            <a:ext cx="8286750" cy="160009"/>
          </a:xfrm>
          <a:prstGeom prst="rect">
            <a:avLst/>
          </a:prstGeom>
          <a:noFill/>
          <a:ln/>
        </p:spPr>
        <p:txBody>
          <a:bodyPr wrap="none" lIns="170053" tIns="0" rIns="0" bIns="0" rtlCol="0" anchor="t">
            <a:spAutoFit/>
          </a:bodyPr>
          <a:lstStyle/>
          <a:p>
            <a:pPr algn="l" indent="0" marL="0">
              <a:lnSpc>
                <a:spcPts val="1300"/>
              </a:lnSpc>
              <a:buNone/>
            </a:pPr>
            <a:r>
              <a:rPr lang="en-US" sz="727" dirty="0">
                <a:solidFill>
                  <a:srgbClr val="333333"/>
                </a:solidFill>
              </a:rPr>
              <a:t>The actual metrics used to measure performance against the SLOs (e.g., uptime, response time).</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592931"/>
            <a:ext cx="8001000"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1A1A1A"/>
                </a:solidFill>
              </a:rPr>
              <a:t>The Mounting Challenges in Modern ITOps</a:t>
            </a:r>
            <a:endParaRPr lang="en-US" sz="1602" dirty="0"/>
          </a:p>
        </p:txBody>
      </p:sp>
      <p:sp>
        <p:nvSpPr>
          <p:cNvPr id="4" name="Shape 1"/>
          <p:cNvSpPr/>
          <p:nvPr/>
        </p:nvSpPr>
        <p:spPr>
          <a:xfrm>
            <a:off x="571500" y="1104407"/>
            <a:ext cx="2571750" cy="1773073"/>
          </a:xfrm>
          <a:prstGeom prst="rect">
            <a:avLst/>
          </a:prstGeom>
          <a:solidFill>
            <a:srgbClr val="FFFFFF"/>
          </a:solidFill>
          <a:ln/>
        </p:spPr>
      </p:sp>
      <p:sp>
        <p:nvSpPr>
          <p:cNvPr id="5" name="Shape 2"/>
          <p:cNvSpPr/>
          <p:nvPr/>
        </p:nvSpPr>
        <p:spPr>
          <a:xfrm>
            <a:off x="571500" y="1104407"/>
            <a:ext cx="28575" cy="1773073"/>
          </a:xfrm>
          <a:prstGeom prst="rect">
            <a:avLst/>
          </a:prstGeom>
          <a:solidFill>
            <a:srgbClr val="0052CC"/>
          </a:solidFill>
          <a:ln/>
        </p:spPr>
      </p:sp>
      <p:sp>
        <p:nvSpPr>
          <p:cNvPr id="6" name="Text 3"/>
          <p:cNvSpPr/>
          <p:nvPr/>
        </p:nvSpPr>
        <p:spPr>
          <a:xfrm>
            <a:off x="685800" y="1218707"/>
            <a:ext cx="2343150"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Challenge 01</a:t>
            </a:r>
            <a:endParaRPr lang="en-US" sz="683" dirty="0"/>
          </a:p>
        </p:txBody>
      </p:sp>
      <p:sp>
        <p:nvSpPr>
          <p:cNvPr id="7" name="Text 4"/>
          <p:cNvSpPr/>
          <p:nvPr/>
        </p:nvSpPr>
        <p:spPr>
          <a:xfrm>
            <a:off x="685800" y="1411588"/>
            <a:ext cx="2343150"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1A1A1A"/>
                </a:solidFill>
              </a:rPr>
              <a:t>Increasing Complexity</a:t>
            </a:r>
            <a:endParaRPr lang="en-US" sz="885" dirty="0"/>
          </a:p>
        </p:txBody>
      </p:sp>
      <p:sp>
        <p:nvSpPr>
          <p:cNvPr id="8" name="Text 5"/>
          <p:cNvSpPr/>
          <p:nvPr/>
        </p:nvSpPr>
        <p:spPr>
          <a:xfrm>
            <a:off x="685800" y="1664466"/>
            <a:ext cx="2343150" cy="32001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Hybrid/multi-cloud, microservices and IoT create complex, dynamic ecosystems.</a:t>
            </a:r>
            <a:endParaRPr lang="en-US" sz="727" dirty="0"/>
          </a:p>
        </p:txBody>
      </p:sp>
      <p:sp>
        <p:nvSpPr>
          <p:cNvPr id="9" name="Shape 6"/>
          <p:cNvSpPr/>
          <p:nvPr/>
        </p:nvSpPr>
        <p:spPr>
          <a:xfrm>
            <a:off x="3286125" y="1104407"/>
            <a:ext cx="2571750" cy="1773073"/>
          </a:xfrm>
          <a:prstGeom prst="rect">
            <a:avLst/>
          </a:prstGeom>
          <a:solidFill>
            <a:srgbClr val="FFFFFF"/>
          </a:solidFill>
          <a:ln/>
        </p:spPr>
      </p:sp>
      <p:sp>
        <p:nvSpPr>
          <p:cNvPr id="10" name="Shape 7"/>
          <p:cNvSpPr/>
          <p:nvPr/>
        </p:nvSpPr>
        <p:spPr>
          <a:xfrm>
            <a:off x="3286125" y="1104407"/>
            <a:ext cx="28575" cy="1773073"/>
          </a:xfrm>
          <a:prstGeom prst="rect">
            <a:avLst/>
          </a:prstGeom>
          <a:solidFill>
            <a:srgbClr val="FF4500"/>
          </a:solidFill>
          <a:ln/>
        </p:spPr>
      </p:sp>
      <p:sp>
        <p:nvSpPr>
          <p:cNvPr id="11" name="Text 8"/>
          <p:cNvSpPr/>
          <p:nvPr/>
        </p:nvSpPr>
        <p:spPr>
          <a:xfrm>
            <a:off x="3400425" y="1218707"/>
            <a:ext cx="2343150"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Challenge 02</a:t>
            </a:r>
            <a:endParaRPr lang="en-US" sz="683" dirty="0"/>
          </a:p>
        </p:txBody>
      </p:sp>
      <p:sp>
        <p:nvSpPr>
          <p:cNvPr id="12" name="Text 9"/>
          <p:cNvSpPr/>
          <p:nvPr/>
        </p:nvSpPr>
        <p:spPr>
          <a:xfrm>
            <a:off x="3400425" y="1411588"/>
            <a:ext cx="2343150"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1A1A1A"/>
                </a:solidFill>
              </a:rPr>
              <a:t>Data Overload</a:t>
            </a:r>
            <a:endParaRPr lang="en-US" sz="885" dirty="0"/>
          </a:p>
        </p:txBody>
      </p:sp>
      <p:sp>
        <p:nvSpPr>
          <p:cNvPr id="13" name="Text 10"/>
          <p:cNvSpPr/>
          <p:nvPr/>
        </p:nvSpPr>
        <p:spPr>
          <a:xfrm>
            <a:off x="3400425" y="1664466"/>
            <a:ext cx="2343150" cy="32001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Exponential data growth makes manual analysis impractical.</a:t>
            </a:r>
            <a:endParaRPr lang="en-US" sz="727" dirty="0"/>
          </a:p>
        </p:txBody>
      </p:sp>
      <p:sp>
        <p:nvSpPr>
          <p:cNvPr id="14" name="Shape 11"/>
          <p:cNvSpPr/>
          <p:nvPr/>
        </p:nvSpPr>
        <p:spPr>
          <a:xfrm>
            <a:off x="6000750" y="1104407"/>
            <a:ext cx="2571750" cy="1773073"/>
          </a:xfrm>
          <a:prstGeom prst="rect">
            <a:avLst/>
          </a:prstGeom>
          <a:solidFill>
            <a:srgbClr val="FFFFFF"/>
          </a:solidFill>
          <a:ln/>
        </p:spPr>
      </p:sp>
      <p:sp>
        <p:nvSpPr>
          <p:cNvPr id="15" name="Shape 12"/>
          <p:cNvSpPr/>
          <p:nvPr/>
        </p:nvSpPr>
        <p:spPr>
          <a:xfrm>
            <a:off x="6000750" y="1104407"/>
            <a:ext cx="28575" cy="1773073"/>
          </a:xfrm>
          <a:prstGeom prst="rect">
            <a:avLst/>
          </a:prstGeom>
          <a:solidFill>
            <a:srgbClr val="0052CC"/>
          </a:solidFill>
          <a:ln/>
        </p:spPr>
      </p:sp>
      <p:sp>
        <p:nvSpPr>
          <p:cNvPr id="16" name="Text 13"/>
          <p:cNvSpPr/>
          <p:nvPr/>
        </p:nvSpPr>
        <p:spPr>
          <a:xfrm>
            <a:off x="6115050" y="1218707"/>
            <a:ext cx="2343150"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Challenge 03</a:t>
            </a:r>
            <a:endParaRPr lang="en-US" sz="683" dirty="0"/>
          </a:p>
        </p:txBody>
      </p:sp>
      <p:sp>
        <p:nvSpPr>
          <p:cNvPr id="17" name="Text 14"/>
          <p:cNvSpPr/>
          <p:nvPr/>
        </p:nvSpPr>
        <p:spPr>
          <a:xfrm>
            <a:off x="6115050" y="1411588"/>
            <a:ext cx="2343150"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1A1A1A"/>
                </a:solidFill>
              </a:rPr>
              <a:t>Tool Sprawl</a:t>
            </a:r>
            <a:endParaRPr lang="en-US" sz="885" dirty="0"/>
          </a:p>
        </p:txBody>
      </p:sp>
      <p:sp>
        <p:nvSpPr>
          <p:cNvPr id="18" name="Text 15"/>
          <p:cNvSpPr/>
          <p:nvPr/>
        </p:nvSpPr>
        <p:spPr>
          <a:xfrm>
            <a:off x="6115050" y="1664466"/>
            <a:ext cx="2343150" cy="32001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Numerous disparate monitoring tools create data silos and fragmentation.</a:t>
            </a:r>
            <a:endParaRPr lang="en-US" sz="727" dirty="0"/>
          </a:p>
        </p:txBody>
      </p:sp>
      <p:sp>
        <p:nvSpPr>
          <p:cNvPr id="19" name="Shape 16"/>
          <p:cNvSpPr/>
          <p:nvPr/>
        </p:nvSpPr>
        <p:spPr>
          <a:xfrm>
            <a:off x="571500" y="3020355"/>
            <a:ext cx="2571750" cy="1773101"/>
          </a:xfrm>
          <a:prstGeom prst="rect">
            <a:avLst/>
          </a:prstGeom>
          <a:solidFill>
            <a:srgbClr val="FFFFFF"/>
          </a:solidFill>
          <a:ln/>
        </p:spPr>
      </p:sp>
      <p:sp>
        <p:nvSpPr>
          <p:cNvPr id="20" name="Shape 17"/>
          <p:cNvSpPr/>
          <p:nvPr/>
        </p:nvSpPr>
        <p:spPr>
          <a:xfrm>
            <a:off x="571500" y="3020355"/>
            <a:ext cx="28575" cy="1773101"/>
          </a:xfrm>
          <a:prstGeom prst="rect">
            <a:avLst/>
          </a:prstGeom>
          <a:solidFill>
            <a:srgbClr val="FF4500"/>
          </a:solidFill>
          <a:ln/>
        </p:spPr>
      </p:sp>
      <p:sp>
        <p:nvSpPr>
          <p:cNvPr id="21" name="Text 18"/>
          <p:cNvSpPr/>
          <p:nvPr/>
        </p:nvSpPr>
        <p:spPr>
          <a:xfrm>
            <a:off x="685800" y="3134655"/>
            <a:ext cx="2343150"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Challenge 04</a:t>
            </a:r>
            <a:endParaRPr lang="en-US" sz="683" dirty="0"/>
          </a:p>
        </p:txBody>
      </p:sp>
      <p:sp>
        <p:nvSpPr>
          <p:cNvPr id="22" name="Text 19"/>
          <p:cNvSpPr/>
          <p:nvPr/>
        </p:nvSpPr>
        <p:spPr>
          <a:xfrm>
            <a:off x="685800" y="3327536"/>
            <a:ext cx="2343150"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1A1A1A"/>
                </a:solidFill>
              </a:rPr>
              <a:t>Pressure to Accelerate</a:t>
            </a:r>
            <a:endParaRPr lang="en-US" sz="885" dirty="0"/>
          </a:p>
        </p:txBody>
      </p:sp>
      <p:sp>
        <p:nvSpPr>
          <p:cNvPr id="23" name="Text 20"/>
          <p:cNvSpPr/>
          <p:nvPr/>
        </p:nvSpPr>
        <p:spPr>
          <a:xfrm>
            <a:off x="685800" y="3580414"/>
            <a:ext cx="2343150" cy="32001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Demand for faster delivery increases pressure on ITOps to innovate.</a:t>
            </a:r>
            <a:endParaRPr lang="en-US" sz="727" dirty="0"/>
          </a:p>
        </p:txBody>
      </p:sp>
      <p:sp>
        <p:nvSpPr>
          <p:cNvPr id="24" name="Shape 21"/>
          <p:cNvSpPr/>
          <p:nvPr/>
        </p:nvSpPr>
        <p:spPr>
          <a:xfrm>
            <a:off x="3286125" y="3020355"/>
            <a:ext cx="2571750" cy="1773101"/>
          </a:xfrm>
          <a:prstGeom prst="rect">
            <a:avLst/>
          </a:prstGeom>
          <a:solidFill>
            <a:srgbClr val="FFFFFF"/>
          </a:solidFill>
          <a:ln/>
        </p:spPr>
      </p:sp>
      <p:sp>
        <p:nvSpPr>
          <p:cNvPr id="25" name="Shape 22"/>
          <p:cNvSpPr/>
          <p:nvPr/>
        </p:nvSpPr>
        <p:spPr>
          <a:xfrm>
            <a:off x="3286125" y="3020355"/>
            <a:ext cx="28575" cy="1773101"/>
          </a:xfrm>
          <a:prstGeom prst="rect">
            <a:avLst/>
          </a:prstGeom>
          <a:solidFill>
            <a:srgbClr val="0052CC"/>
          </a:solidFill>
          <a:ln/>
        </p:spPr>
      </p:sp>
      <p:sp>
        <p:nvSpPr>
          <p:cNvPr id="26" name="Text 23"/>
          <p:cNvSpPr/>
          <p:nvPr/>
        </p:nvSpPr>
        <p:spPr>
          <a:xfrm>
            <a:off x="3400425" y="3134655"/>
            <a:ext cx="2343150"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Challenge 05</a:t>
            </a:r>
            <a:endParaRPr lang="en-US" sz="683" dirty="0"/>
          </a:p>
        </p:txBody>
      </p:sp>
      <p:sp>
        <p:nvSpPr>
          <p:cNvPr id="27" name="Text 24"/>
          <p:cNvSpPr/>
          <p:nvPr/>
        </p:nvSpPr>
        <p:spPr>
          <a:xfrm>
            <a:off x="3400425" y="3327536"/>
            <a:ext cx="2343150"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1A1A1A"/>
                </a:solidFill>
              </a:rPr>
              <a:t>Cybersecurity Threats</a:t>
            </a:r>
            <a:endParaRPr lang="en-US" sz="885" dirty="0"/>
          </a:p>
        </p:txBody>
      </p:sp>
      <p:sp>
        <p:nvSpPr>
          <p:cNvPr id="28" name="Text 25"/>
          <p:cNvSpPr/>
          <p:nvPr/>
        </p:nvSpPr>
        <p:spPr>
          <a:xfrm>
            <a:off x="3400425" y="3580414"/>
            <a:ext cx="2343150" cy="32001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Sophisticated attacks require continuous, proactive detection and response.</a:t>
            </a:r>
            <a:endParaRPr lang="en-US" sz="727" dirty="0"/>
          </a:p>
        </p:txBody>
      </p:sp>
      <p:sp>
        <p:nvSpPr>
          <p:cNvPr id="29" name="Shape 26"/>
          <p:cNvSpPr/>
          <p:nvPr/>
        </p:nvSpPr>
        <p:spPr>
          <a:xfrm>
            <a:off x="571500" y="4907756"/>
            <a:ext cx="8001000" cy="235744"/>
          </a:xfrm>
          <a:prstGeom prst="rect">
            <a:avLst/>
          </a:prstGeom>
          <a:solidFill>
            <a:srgbClr val="000000">
              <a:alpha val="0"/>
            </a:srgbClr>
          </a:solidFill>
          <a:ln/>
        </p:spPr>
      </p:sp>
      <p:sp>
        <p:nvSpPr>
          <p:cNvPr id="30" name="Shape 27"/>
          <p:cNvSpPr/>
          <p:nvPr/>
        </p:nvSpPr>
        <p:spPr>
          <a:xfrm>
            <a:off x="571500" y="4907756"/>
            <a:ext cx="8001000" cy="14288"/>
          </a:xfrm>
          <a:prstGeom prst="rect">
            <a:avLst/>
          </a:prstGeom>
          <a:solidFill>
            <a:srgbClr val="CCCCCC"/>
          </a:solidFill>
          <a:ln/>
        </p:spPr>
      </p:sp>
      <p:sp>
        <p:nvSpPr>
          <p:cNvPr id="31" name="Text 28"/>
          <p:cNvSpPr/>
          <p:nvPr/>
        </p:nvSpPr>
        <p:spPr>
          <a:xfrm>
            <a:off x="571500" y="4907756"/>
            <a:ext cx="8001000" cy="235744"/>
          </a:xfrm>
          <a:prstGeom prst="rect">
            <a:avLst/>
          </a:prstGeom>
          <a:noFill/>
          <a:ln/>
        </p:spPr>
        <p:txBody>
          <a:bodyPr wrap="square" lIns="0" tIns="102108" rIns="0" bIns="0" rtlCol="0" anchor="t">
            <a:spAutoFit/>
          </a:bodyPr>
          <a:lstStyle/>
          <a:p>
            <a:pPr algn="ctr" indent="0" marL="0">
              <a:lnSpc>
                <a:spcPts val="900"/>
              </a:lnSpc>
              <a:buNone/>
            </a:pPr>
            <a:r>
              <a:rPr lang="en-US" sz="727" i="1" dirty="0">
                <a:solidFill>
                  <a:srgbClr val="333333"/>
                </a:solidFill>
              </a:rPr>
              <a:t>These challenges require a shift towards more intelligent and automated operational models.</a:t>
            </a:r>
            <a:endParaRPr lang="en-US" sz="72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592931"/>
            <a:ext cx="5429250"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1A1A"/>
                </a:solidFill>
              </a:rPr>
              <a:t>The Dawn of AIOps:</a:t>
            </a:r>
            <a:pPr algn="l" indent="0" marL="0">
              <a:lnSpc>
                <a:spcPts val="2300"/>
              </a:lnSpc>
              <a:buNone/>
            </a:pPr>
            <a:r>
              <a:rPr lang="en-US" sz="1602" b="1" dirty="0">
                <a:solidFill>
                  <a:srgbClr val="1A1A1A"/>
                </a:solidFill>
              </a:rPr>
              <a:t>
</a:t>
            </a:r>
            <a:pPr algn="l" indent="0" marL="0">
              <a:lnSpc>
                <a:spcPts val="2300"/>
              </a:lnSpc>
              <a:buNone/>
            </a:pPr>
            <a:r>
              <a:rPr lang="en-US" sz="1602" b="1" dirty="0">
                <a:solidFill>
                  <a:srgbClr val="1A1A1A"/>
                </a:solidFill>
              </a:rPr>
              <a:t>Intelligence-Driven Operations</a:t>
            </a:r>
            <a:endParaRPr lang="en-US" sz="1602" dirty="0"/>
          </a:p>
        </p:txBody>
      </p:sp>
      <p:sp>
        <p:nvSpPr>
          <p:cNvPr id="4" name="Text 1"/>
          <p:cNvSpPr/>
          <p:nvPr/>
        </p:nvSpPr>
        <p:spPr>
          <a:xfrm>
            <a:off x="428625" y="1365852"/>
            <a:ext cx="5429250" cy="91431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AIOps, or Artificial Intelligence for IT Operations, represents a paradigm shift in how IT operations are managed. By leveraging the power of AI and machine learning, AIOps enables a proactive, predictive, and automated approach to managing complex IT environments. It builds upon the foundations of Agile, DevOps, and ITOps to create a more intelligent and responsive operational model.</a:t>
            </a:r>
            <a:endParaRPr lang="en-US" sz="834" dirty="0"/>
          </a:p>
        </p:txBody>
      </p:sp>
      <p:sp>
        <p:nvSpPr>
          <p:cNvPr id="5" name="Text 2"/>
          <p:cNvSpPr/>
          <p:nvPr/>
        </p:nvSpPr>
        <p:spPr>
          <a:xfrm>
            <a:off x="428625" y="2494480"/>
            <a:ext cx="542925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1A1A"/>
                </a:solidFill>
              </a:rPr>
              <a:t>The AIOps Hierarchy:</a:t>
            </a:r>
            <a:endParaRPr lang="en-US" sz="784" dirty="0"/>
          </a:p>
        </p:txBody>
      </p:sp>
      <p:sp>
        <p:nvSpPr>
          <p:cNvPr id="6" name="Shape 3"/>
          <p:cNvSpPr/>
          <p:nvPr/>
        </p:nvSpPr>
        <p:spPr>
          <a:xfrm>
            <a:off x="428625" y="2792732"/>
            <a:ext cx="214313" cy="214313"/>
          </a:xfrm>
          <a:prstGeom prst="ellipse">
            <a:avLst/>
          </a:prstGeom>
          <a:solidFill>
            <a:srgbClr val="0052CC"/>
          </a:solidFill>
          <a:ln/>
        </p:spPr>
      </p:sp>
      <p:sp>
        <p:nvSpPr>
          <p:cNvPr id="7" name="Text 4"/>
          <p:cNvSpPr/>
          <p:nvPr/>
        </p:nvSpPr>
        <p:spPr>
          <a:xfrm>
            <a:off x="428625" y="2792732"/>
            <a:ext cx="214313" cy="214313"/>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2F2F2"/>
                </a:solidFill>
              </a:rPr>
              <a:t>counter(item)</a:t>
            </a:r>
            <a:endParaRPr lang="en-US" sz="683" dirty="0"/>
          </a:p>
        </p:txBody>
      </p:sp>
      <p:sp>
        <p:nvSpPr>
          <p:cNvPr id="8" name="Text 5"/>
          <p:cNvSpPr/>
          <p:nvPr/>
        </p:nvSpPr>
        <p:spPr>
          <a:xfrm>
            <a:off x="714375" y="2799876"/>
            <a:ext cx="361094" cy="155377"/>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rPr>
              <a:t>ITOps:</a:t>
            </a:r>
            <a:endParaRPr lang="en-US" sz="784" dirty="0"/>
          </a:p>
        </p:txBody>
      </p:sp>
      <p:sp>
        <p:nvSpPr>
          <p:cNvPr id="9" name="Text 6"/>
          <p:cNvSpPr/>
          <p:nvPr/>
        </p:nvSpPr>
        <p:spPr>
          <a:xfrm>
            <a:off x="1105188" y="2815949"/>
            <a:ext cx="2677846" cy="135731"/>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rPr>
              <a:t>The foundational layer responsible for IT service delivery.</a:t>
            </a:r>
            <a:endParaRPr lang="en-US" sz="727" dirty="0"/>
          </a:p>
        </p:txBody>
      </p:sp>
      <p:sp>
        <p:nvSpPr>
          <p:cNvPr id="10" name="Shape 7"/>
          <p:cNvSpPr/>
          <p:nvPr/>
        </p:nvSpPr>
        <p:spPr>
          <a:xfrm>
            <a:off x="428625" y="3078482"/>
            <a:ext cx="214313" cy="214313"/>
          </a:xfrm>
          <a:prstGeom prst="ellipse">
            <a:avLst/>
          </a:prstGeom>
          <a:solidFill>
            <a:srgbClr val="0052CC"/>
          </a:solidFill>
          <a:ln/>
        </p:spPr>
      </p:sp>
      <p:sp>
        <p:nvSpPr>
          <p:cNvPr id="11" name="Text 8"/>
          <p:cNvSpPr/>
          <p:nvPr/>
        </p:nvSpPr>
        <p:spPr>
          <a:xfrm>
            <a:off x="428625" y="3078482"/>
            <a:ext cx="214313" cy="214313"/>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2F2F2"/>
                </a:solidFill>
              </a:rPr>
              <a:t>counter(item)</a:t>
            </a:r>
            <a:endParaRPr lang="en-US" sz="683" dirty="0"/>
          </a:p>
        </p:txBody>
      </p:sp>
      <p:sp>
        <p:nvSpPr>
          <p:cNvPr id="12" name="Text 9"/>
          <p:cNvSpPr/>
          <p:nvPr/>
        </p:nvSpPr>
        <p:spPr>
          <a:xfrm>
            <a:off x="714375" y="3085626"/>
            <a:ext cx="901257" cy="155377"/>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rPr>
              <a:t>Agile &amp; DevOps:</a:t>
            </a:r>
            <a:endParaRPr lang="en-US" sz="784" dirty="0"/>
          </a:p>
        </p:txBody>
      </p:sp>
      <p:sp>
        <p:nvSpPr>
          <p:cNvPr id="13" name="Text 10"/>
          <p:cNvSpPr/>
          <p:nvPr/>
        </p:nvSpPr>
        <p:spPr>
          <a:xfrm>
            <a:off x="1645351" y="3101699"/>
            <a:ext cx="3328541" cy="135731"/>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rPr>
              <a:t>Methodologies that promote collaboration and rapid, iterative delivery.</a:t>
            </a:r>
            <a:endParaRPr lang="en-US" sz="727" dirty="0"/>
          </a:p>
        </p:txBody>
      </p:sp>
      <p:sp>
        <p:nvSpPr>
          <p:cNvPr id="14" name="Shape 11"/>
          <p:cNvSpPr/>
          <p:nvPr/>
        </p:nvSpPr>
        <p:spPr>
          <a:xfrm>
            <a:off x="428625" y="3364232"/>
            <a:ext cx="214313" cy="214313"/>
          </a:xfrm>
          <a:prstGeom prst="ellipse">
            <a:avLst/>
          </a:prstGeom>
          <a:solidFill>
            <a:srgbClr val="0052CC"/>
          </a:solidFill>
          <a:ln/>
        </p:spPr>
      </p:sp>
      <p:sp>
        <p:nvSpPr>
          <p:cNvPr id="15" name="Text 12"/>
          <p:cNvSpPr/>
          <p:nvPr/>
        </p:nvSpPr>
        <p:spPr>
          <a:xfrm>
            <a:off x="428625" y="3364232"/>
            <a:ext cx="214313" cy="214313"/>
          </a:xfrm>
          <a:prstGeom prst="rect">
            <a:avLst/>
          </a:prstGeom>
          <a:noFill/>
          <a:ln/>
        </p:spPr>
        <p:txBody>
          <a:bodyPr wrap="none" lIns="0" tIns="0" rIns="0" bIns="0" rtlCol="0" anchor="t">
            <a:spAutoFit/>
          </a:bodyPr>
          <a:lstStyle/>
          <a:p>
            <a:pPr algn="l" indent="0" marL="0">
              <a:lnSpc>
                <a:spcPts val="1200"/>
              </a:lnSpc>
              <a:buNone/>
            </a:pPr>
            <a:r>
              <a:rPr lang="en-US" sz="683" b="1" dirty="0">
                <a:solidFill>
                  <a:srgbClr val="F2F2F2"/>
                </a:solidFill>
              </a:rPr>
              <a:t>counter(item)</a:t>
            </a:r>
            <a:endParaRPr lang="en-US" sz="683" dirty="0"/>
          </a:p>
        </p:txBody>
      </p:sp>
      <p:sp>
        <p:nvSpPr>
          <p:cNvPr id="16" name="Text 13"/>
          <p:cNvSpPr/>
          <p:nvPr/>
        </p:nvSpPr>
        <p:spPr>
          <a:xfrm>
            <a:off x="714375" y="3371376"/>
            <a:ext cx="376051" cy="155377"/>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rPr>
              <a:t>AIOps:</a:t>
            </a:r>
            <a:endParaRPr lang="en-US" sz="784" dirty="0"/>
          </a:p>
        </p:txBody>
      </p:sp>
      <p:sp>
        <p:nvSpPr>
          <p:cNvPr id="17" name="Text 14"/>
          <p:cNvSpPr/>
          <p:nvPr/>
        </p:nvSpPr>
        <p:spPr>
          <a:xfrm>
            <a:off x="714375" y="3387449"/>
            <a:ext cx="5024261" cy="307181"/>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rPr>
              <a:t>The intelligence layer that analyzes data from all underlying systems to provide actionable insights and automate responses.</a:t>
            </a:r>
            <a:endParaRPr lang="en-US" sz="727" dirty="0"/>
          </a:p>
        </p:txBody>
      </p:sp>
      <p:sp>
        <p:nvSpPr>
          <p:cNvPr id="18" name="Shape 15"/>
          <p:cNvSpPr/>
          <p:nvPr/>
        </p:nvSpPr>
        <p:spPr>
          <a:xfrm>
            <a:off x="6143625" y="0"/>
            <a:ext cx="3000375" cy="5143500"/>
          </a:xfrm>
          <a:prstGeom prst="rect">
            <a:avLst/>
          </a:prstGeom>
          <a:solidFill>
            <a:srgbClr val="FFFFFF"/>
          </a:solidFill>
          <a:ln/>
        </p:spPr>
      </p:sp>
      <p:pic>
        <p:nvPicPr>
          <p:cNvPr id="19" name="Image 1" descr="preencoded.png">    </p:cNvPr>
          <p:cNvPicPr>
            <a:picLocks noChangeAspect="1"/>
          </p:cNvPicPr>
          <p:nvPr/>
        </p:nvPicPr>
        <p:blipFill>
          <a:blip r:embed="rId2"/>
          <a:stretch>
            <a:fillRect/>
          </a:stretch>
        </p:blipFill>
        <p:spPr>
          <a:xfrm>
            <a:off x="6143625" y="0"/>
            <a:ext cx="3000375"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2857500" cy="5143500"/>
          </a:xfrm>
          <a:prstGeom prst="rect">
            <a:avLst/>
          </a:prstGeom>
          <a:solidFill>
            <a:srgbClr val="FFFFFF"/>
          </a:solidFill>
          <a:ln/>
        </p:spPr>
      </p:sp>
      <p:pic>
        <p:nvPicPr>
          <p:cNvPr id="4" name="Image 1" descr="preencoded.png">    </p:cNvPr>
          <p:cNvPicPr>
            <a:picLocks noChangeAspect="1"/>
          </p:cNvPicPr>
          <p:nvPr/>
        </p:nvPicPr>
        <p:blipFill>
          <a:blip r:embed="rId2"/>
          <a:stretch>
            <a:fillRect/>
          </a:stretch>
        </p:blipFill>
        <p:spPr>
          <a:xfrm>
            <a:off x="0" y="0"/>
            <a:ext cx="2857500" cy="5143500"/>
          </a:xfrm>
          <a:prstGeom prst="rect">
            <a:avLst/>
          </a:prstGeom>
        </p:spPr>
      </p:pic>
      <p:sp>
        <p:nvSpPr>
          <p:cNvPr id="5" name="Text 1"/>
          <p:cNvSpPr/>
          <p:nvPr/>
        </p:nvSpPr>
        <p:spPr>
          <a:xfrm>
            <a:off x="3214688" y="592931"/>
            <a:ext cx="5572125"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1A1A"/>
                </a:solidFill>
              </a:rPr>
              <a:t>AIOps in Action:</a:t>
            </a:r>
            <a:pPr algn="l" indent="0" marL="0">
              <a:lnSpc>
                <a:spcPts val="2300"/>
              </a:lnSpc>
              <a:buNone/>
            </a:pPr>
            <a:r>
              <a:rPr lang="en-US" sz="1602" b="1" dirty="0">
                <a:solidFill>
                  <a:srgbClr val="1A1A1A"/>
                </a:solidFill>
              </a:rPr>
              <a:t>
</a:t>
            </a:r>
            <a:pPr algn="l" indent="0" marL="0">
              <a:lnSpc>
                <a:spcPts val="2300"/>
              </a:lnSpc>
              <a:buNone/>
            </a:pPr>
            <a:r>
              <a:rPr lang="en-US" sz="1602" b="1" dirty="0">
                <a:solidFill>
                  <a:srgbClr val="1A1A1A"/>
                </a:solidFill>
              </a:rPr>
              <a:t>Transforming Key Operations</a:t>
            </a:r>
            <a:endParaRPr lang="en-US" sz="1602" dirty="0"/>
          </a:p>
        </p:txBody>
      </p:sp>
      <p:sp>
        <p:nvSpPr>
          <p:cNvPr id="6" name="Text 2"/>
          <p:cNvSpPr/>
          <p:nvPr/>
        </p:nvSpPr>
        <p:spPr>
          <a:xfrm>
            <a:off x="3386138" y="1437289"/>
            <a:ext cx="5400675"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FF4500"/>
                </a:solidFill>
              </a:rPr>
              <a:t>(A) Monitoring &amp; Alerting</a:t>
            </a:r>
            <a:endParaRPr lang="en-US" sz="683" dirty="0"/>
          </a:p>
        </p:txBody>
      </p:sp>
      <p:sp>
        <p:nvSpPr>
          <p:cNvPr id="7" name="Text 3"/>
          <p:cNvSpPr/>
          <p:nvPr/>
        </p:nvSpPr>
        <p:spPr>
          <a:xfrm>
            <a:off x="3386138" y="1630170"/>
            <a:ext cx="540067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Enhanced Monitoring &amp; Alerting</a:t>
            </a:r>
            <a:endParaRPr lang="en-US" sz="885" dirty="0"/>
          </a:p>
        </p:txBody>
      </p:sp>
      <p:sp>
        <p:nvSpPr>
          <p:cNvPr id="8" name="Text 4"/>
          <p:cNvSpPr/>
          <p:nvPr/>
        </p:nvSpPr>
        <p:spPr>
          <a:xfrm>
            <a:off x="3386138" y="1876630"/>
            <a:ext cx="5400675"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333333"/>
                </a:solidFill>
              </a:rPr>
              <a:t>AIOps platforms analyze vast amounts of data in real-time to detect anomalies, correlate alerts to identify root causes, and reduce alert noise, allowing IT teams to focus on what matters most.</a:t>
            </a:r>
            <a:endParaRPr lang="en-US" sz="780" dirty="0"/>
          </a:p>
        </p:txBody>
      </p:sp>
      <p:sp>
        <p:nvSpPr>
          <p:cNvPr id="9" name="Text 5"/>
          <p:cNvSpPr/>
          <p:nvPr/>
        </p:nvSpPr>
        <p:spPr>
          <a:xfrm>
            <a:off x="3386138" y="2376692"/>
            <a:ext cx="5400675"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FF4500"/>
                </a:solidFill>
              </a:rPr>
              <a:t>(B) Security &amp; Compliance</a:t>
            </a:r>
            <a:endParaRPr lang="en-US" sz="683" dirty="0"/>
          </a:p>
        </p:txBody>
      </p:sp>
      <p:sp>
        <p:nvSpPr>
          <p:cNvPr id="10" name="Text 6"/>
          <p:cNvSpPr/>
          <p:nvPr/>
        </p:nvSpPr>
        <p:spPr>
          <a:xfrm>
            <a:off x="3386138" y="2569573"/>
            <a:ext cx="540067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Proactive Security &amp; Compliance</a:t>
            </a:r>
            <a:endParaRPr lang="en-US" sz="885" dirty="0"/>
          </a:p>
        </p:txBody>
      </p:sp>
      <p:sp>
        <p:nvSpPr>
          <p:cNvPr id="11" name="Text 7"/>
          <p:cNvSpPr/>
          <p:nvPr/>
        </p:nvSpPr>
        <p:spPr>
          <a:xfrm>
            <a:off x="3386138" y="2816033"/>
            <a:ext cx="5400675"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333333"/>
                </a:solidFill>
              </a:rPr>
              <a:t>By continuously monitoring for suspicious activities and potential threats, AIOps can identify and mitigate security risks before they impact the business and automate compliance checks.</a:t>
            </a:r>
            <a:endParaRPr lang="en-US" sz="780" dirty="0"/>
          </a:p>
        </p:txBody>
      </p:sp>
      <p:sp>
        <p:nvSpPr>
          <p:cNvPr id="12" name="Text 8"/>
          <p:cNvSpPr/>
          <p:nvPr/>
        </p:nvSpPr>
        <p:spPr>
          <a:xfrm>
            <a:off x="3386138" y="3316095"/>
            <a:ext cx="5400675"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FF4500"/>
                </a:solidFill>
              </a:rPr>
              <a:t>(C) Problem Resolution</a:t>
            </a:r>
            <a:endParaRPr lang="en-US" sz="683" dirty="0"/>
          </a:p>
        </p:txBody>
      </p:sp>
      <p:sp>
        <p:nvSpPr>
          <p:cNvPr id="13" name="Text 9"/>
          <p:cNvSpPr/>
          <p:nvPr/>
        </p:nvSpPr>
        <p:spPr>
          <a:xfrm>
            <a:off x="3386138" y="3508977"/>
            <a:ext cx="540067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A1A1A"/>
                </a:solidFill>
              </a:rPr>
              <a:t>Accelerated Problem Resolution</a:t>
            </a:r>
            <a:endParaRPr lang="en-US" sz="885" dirty="0"/>
          </a:p>
        </p:txBody>
      </p:sp>
      <p:sp>
        <p:nvSpPr>
          <p:cNvPr id="14" name="Text 10"/>
          <p:cNvSpPr/>
          <p:nvPr/>
        </p:nvSpPr>
        <p:spPr>
          <a:xfrm>
            <a:off x="3386138" y="3755436"/>
            <a:ext cx="5400675"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333333"/>
                </a:solidFill>
              </a:rPr>
              <a:t>AIOps automates root cause analysis, provides predictive insights into potential incidents, and can power self-service help desks to resolve common issues without human intervention.</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3000375" cy="5143500"/>
          </a:xfrm>
          <a:prstGeom prst="rect">
            <a:avLst/>
          </a:prstGeom>
          <a:solidFill>
            <a:srgbClr val="FFFFFF"/>
          </a:solidFill>
          <a:ln/>
        </p:spPr>
      </p:sp>
      <p:pic>
        <p:nvPicPr>
          <p:cNvPr id="4" name="Image 1" descr="preencoded.png">    </p:cNvPr>
          <p:cNvPicPr>
            <a:picLocks noChangeAspect="1"/>
          </p:cNvPicPr>
          <p:nvPr/>
        </p:nvPicPr>
        <p:blipFill>
          <a:blip r:embed="rId2"/>
          <a:stretch>
            <a:fillRect/>
          </a:stretch>
        </p:blipFill>
        <p:spPr>
          <a:xfrm>
            <a:off x="0" y="0"/>
            <a:ext cx="3000375" cy="5143500"/>
          </a:xfrm>
          <a:prstGeom prst="rect">
            <a:avLst/>
          </a:prstGeom>
        </p:spPr>
      </p:pic>
      <p:sp>
        <p:nvSpPr>
          <p:cNvPr id="5" name="Text 1"/>
          <p:cNvSpPr/>
          <p:nvPr/>
        </p:nvSpPr>
        <p:spPr>
          <a:xfrm>
            <a:off x="3429000" y="592931"/>
            <a:ext cx="5286375"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1A1A1A"/>
                </a:solidFill>
              </a:rPr>
              <a:t>Expanding the Horizons of AIOps</a:t>
            </a:r>
            <a:endParaRPr lang="en-US" sz="1602" dirty="0"/>
          </a:p>
        </p:txBody>
      </p:sp>
      <p:sp>
        <p:nvSpPr>
          <p:cNvPr id="6" name="Text 2"/>
          <p:cNvSpPr/>
          <p:nvPr/>
        </p:nvSpPr>
        <p:spPr>
          <a:xfrm>
            <a:off x="3429000" y="1104407"/>
            <a:ext cx="528637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0052CC"/>
                </a:solidFill>
              </a:rPr>
              <a:t>(D) Intelligent Capacity Planning</a:t>
            </a:r>
            <a:endParaRPr lang="en-US" sz="683" dirty="0"/>
          </a:p>
        </p:txBody>
      </p:sp>
      <p:sp>
        <p:nvSpPr>
          <p:cNvPr id="7" name="Text 3"/>
          <p:cNvSpPr/>
          <p:nvPr/>
        </p:nvSpPr>
        <p:spPr>
          <a:xfrm>
            <a:off x="3429000" y="1297288"/>
            <a:ext cx="5286375"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333333"/>
                </a:solidFill>
              </a:rPr>
              <a:t>AIOps can analyze historical data and trends to forecast future service load and predict potential service downtime, enabling proactive capacity planning and resource optimization.</a:t>
            </a:r>
            <a:endParaRPr lang="en-US" sz="727" dirty="0"/>
          </a:p>
        </p:txBody>
      </p:sp>
      <p:sp>
        <p:nvSpPr>
          <p:cNvPr id="8" name="Text 4"/>
          <p:cNvSpPr/>
          <p:nvPr/>
        </p:nvSpPr>
        <p:spPr>
          <a:xfrm>
            <a:off x="3429000" y="2075957"/>
            <a:ext cx="528637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0052CC"/>
                </a:solidFill>
              </a:rPr>
              <a:t>(E) Smarter IT Help Desk</a:t>
            </a:r>
            <a:endParaRPr lang="en-US" sz="683" dirty="0"/>
          </a:p>
        </p:txBody>
      </p:sp>
      <p:sp>
        <p:nvSpPr>
          <p:cNvPr id="9" name="Text 5"/>
          <p:cNvSpPr/>
          <p:nvPr/>
        </p:nvSpPr>
        <p:spPr>
          <a:xfrm>
            <a:off x="3429000" y="2268838"/>
            <a:ext cx="5286375"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333333"/>
                </a:solidFill>
              </a:rPr>
              <a:t>By automating incident categorization and routing, and providing intelligent knowledge bases, AIOps can significantly improve the efficiency and effectiveness of the IT help desk.</a:t>
            </a:r>
            <a:endParaRPr lang="en-US" sz="727" dirty="0"/>
          </a:p>
        </p:txBody>
      </p:sp>
      <p:sp>
        <p:nvSpPr>
          <p:cNvPr id="10" name="Text 6"/>
          <p:cNvSpPr/>
          <p:nvPr/>
        </p:nvSpPr>
        <p:spPr>
          <a:xfrm>
            <a:off x="3429000" y="3047507"/>
            <a:ext cx="528637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0052CC"/>
                </a:solidFill>
              </a:rPr>
              <a:t>(F) Other Powerful Use Cases</a:t>
            </a:r>
            <a:endParaRPr lang="en-US" sz="683" dirty="0"/>
          </a:p>
        </p:txBody>
      </p:sp>
      <p:sp>
        <p:nvSpPr>
          <p:cNvPr id="11" name="Text 7"/>
          <p:cNvSpPr/>
          <p:nvPr/>
        </p:nvSpPr>
        <p:spPr>
          <a:xfrm>
            <a:off x="3429000" y="3240388"/>
            <a:ext cx="5286375"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333333"/>
                </a:solidFill>
              </a:rPr>
              <a:t>The versatility of AIOps allows for a wide range of other applications, including automated incident root cause analysis, self-service help desks, service load forecasting, predictive service downtime, intrusion detection, spam classification, and incident categorization.</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3000375" cy="5143500"/>
          </a:xfrm>
          <a:prstGeom prst="rect">
            <a:avLst/>
          </a:prstGeom>
          <a:solidFill>
            <a:srgbClr val="FFFFFF"/>
          </a:solidFill>
          <a:ln/>
        </p:spPr>
      </p:sp>
      <p:pic>
        <p:nvPicPr>
          <p:cNvPr id="4" name="Image 1" descr="preencoded.png">    </p:cNvPr>
          <p:cNvPicPr>
            <a:picLocks noChangeAspect="1"/>
          </p:cNvPicPr>
          <p:nvPr/>
        </p:nvPicPr>
        <p:blipFill>
          <a:blip r:embed="rId2"/>
          <a:stretch>
            <a:fillRect/>
          </a:stretch>
        </p:blipFill>
        <p:spPr>
          <a:xfrm>
            <a:off x="0" y="0"/>
            <a:ext cx="3000375" cy="5143500"/>
          </a:xfrm>
          <a:prstGeom prst="rect">
            <a:avLst/>
          </a:prstGeom>
        </p:spPr>
      </p:pic>
      <p:sp>
        <p:nvSpPr>
          <p:cNvPr id="5" name="Text 1"/>
          <p:cNvSpPr/>
          <p:nvPr/>
        </p:nvSpPr>
        <p:spPr>
          <a:xfrm>
            <a:off x="3429000" y="592931"/>
            <a:ext cx="5286375"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1A1A"/>
                </a:solidFill>
              </a:rPr>
              <a:t>The Future is Autonomous:</a:t>
            </a:r>
            <a:pPr algn="l" indent="0" marL="0">
              <a:lnSpc>
                <a:spcPts val="2300"/>
              </a:lnSpc>
              <a:buNone/>
            </a:pPr>
            <a:r>
              <a:rPr lang="en-US" sz="1602" b="1" dirty="0">
                <a:solidFill>
                  <a:srgbClr val="1A1A1A"/>
                </a:solidFill>
              </a:rPr>
              <a:t>
</a:t>
            </a:r>
            <a:pPr algn="l" indent="0" marL="0">
              <a:lnSpc>
                <a:spcPts val="2300"/>
              </a:lnSpc>
              <a:buNone/>
            </a:pPr>
            <a:r>
              <a:rPr lang="en-US" sz="1602" b="1" dirty="0">
                <a:solidFill>
                  <a:srgbClr val="1A1A1A"/>
                </a:solidFill>
              </a:rPr>
              <a:t>Your AIOps Journey Starts Now</a:t>
            </a:r>
            <a:endParaRPr lang="en-US" sz="1602" dirty="0"/>
          </a:p>
        </p:txBody>
      </p:sp>
      <p:sp>
        <p:nvSpPr>
          <p:cNvPr id="6" name="Text 2"/>
          <p:cNvSpPr/>
          <p:nvPr/>
        </p:nvSpPr>
        <p:spPr>
          <a:xfrm>
            <a:off x="3429000" y="1401570"/>
            <a:ext cx="2553891" cy="241102"/>
          </a:xfrm>
          <a:prstGeom prst="rect">
            <a:avLst/>
          </a:prstGeom>
          <a:noFill/>
          <a:ln/>
        </p:spPr>
        <p:txBody>
          <a:bodyPr wrap="square" lIns="0" tIns="0" rIns="0" bIns="85090" rtlCol="0" anchor="t">
            <a:spAutoFit/>
          </a:bodyPr>
          <a:lstStyle/>
          <a:p>
            <a:pPr algn="l" indent="0" marL="0">
              <a:lnSpc>
                <a:spcPts val="1100"/>
              </a:lnSpc>
              <a:buNone/>
            </a:pPr>
            <a:r>
              <a:rPr lang="en-US" sz="784" b="1" dirty="0">
                <a:solidFill>
                  <a:srgbClr val="1A1A1A"/>
                </a:solidFill>
              </a:rPr>
              <a:t>For Consumers of IT</a:t>
            </a:r>
            <a:endParaRPr lang="en-US" sz="784" dirty="0"/>
          </a:p>
        </p:txBody>
      </p:sp>
      <p:sp>
        <p:nvSpPr>
          <p:cNvPr id="7" name="Text 3"/>
          <p:cNvSpPr/>
          <p:nvPr/>
        </p:nvSpPr>
        <p:spPr>
          <a:xfrm>
            <a:off x="3429000" y="1749828"/>
            <a:ext cx="2553891" cy="140001"/>
          </a:xfrm>
          <a:prstGeom prst="rect">
            <a:avLst/>
          </a:prstGeom>
          <a:noFill/>
          <a:ln/>
        </p:spPr>
        <p:txBody>
          <a:bodyPr wrap="none" lIns="170053" tIns="0" rIns="0" bIns="0" rtlCol="0" anchor="t">
            <a:spAutoFit/>
          </a:bodyPr>
          <a:lstStyle/>
          <a:p>
            <a:pPr algn="l" indent="0" marL="0">
              <a:lnSpc>
                <a:spcPts val="1100"/>
              </a:lnSpc>
              <a:buNone/>
            </a:pPr>
            <a:r>
              <a:rPr lang="en-US" sz="727" dirty="0">
                <a:solidFill>
                  <a:srgbClr val="333333"/>
                </a:solidFill>
              </a:rPr>
              <a:t>Improved Application Performance &amp; Reliability</a:t>
            </a:r>
            <a:endParaRPr lang="en-US" sz="727" dirty="0"/>
          </a:p>
        </p:txBody>
      </p:sp>
      <p:sp>
        <p:nvSpPr>
          <p:cNvPr id="8" name="Text 4"/>
          <p:cNvSpPr/>
          <p:nvPr/>
        </p:nvSpPr>
        <p:spPr>
          <a:xfrm>
            <a:off x="3429000" y="1975554"/>
            <a:ext cx="2553891" cy="140001"/>
          </a:xfrm>
          <a:prstGeom prst="rect">
            <a:avLst/>
          </a:prstGeom>
          <a:noFill/>
          <a:ln/>
        </p:spPr>
        <p:txBody>
          <a:bodyPr wrap="none" lIns="170053" tIns="0" rIns="0" bIns="0" rtlCol="0" anchor="t">
            <a:spAutoFit/>
          </a:bodyPr>
          <a:lstStyle/>
          <a:p>
            <a:pPr algn="l" indent="0" marL="0">
              <a:lnSpc>
                <a:spcPts val="1100"/>
              </a:lnSpc>
              <a:buNone/>
            </a:pPr>
            <a:r>
              <a:rPr lang="en-US" sz="727" dirty="0">
                <a:solidFill>
                  <a:srgbClr val="333333"/>
                </a:solidFill>
              </a:rPr>
              <a:t>Better Customer Experience &amp; Satisfaction</a:t>
            </a:r>
            <a:endParaRPr lang="en-US" sz="727" dirty="0"/>
          </a:p>
        </p:txBody>
      </p:sp>
      <p:sp>
        <p:nvSpPr>
          <p:cNvPr id="9" name="Text 5"/>
          <p:cNvSpPr/>
          <p:nvPr/>
        </p:nvSpPr>
        <p:spPr>
          <a:xfrm>
            <a:off x="3429000" y="1749828"/>
            <a:ext cx="57150" cy="159981"/>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4500"/>
                </a:solidFill>
              </a:rPr>
              <a:t>▸</a:t>
            </a:r>
            <a:endParaRPr lang="en-US" sz="834" dirty="0"/>
          </a:p>
        </p:txBody>
      </p:sp>
      <p:sp>
        <p:nvSpPr>
          <p:cNvPr id="10" name="Text 6"/>
          <p:cNvSpPr/>
          <p:nvPr/>
        </p:nvSpPr>
        <p:spPr>
          <a:xfrm>
            <a:off x="3429000" y="1975554"/>
            <a:ext cx="57150" cy="159981"/>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4500"/>
                </a:solidFill>
              </a:rPr>
              <a:t>▸</a:t>
            </a:r>
            <a:endParaRPr lang="en-US" sz="834" dirty="0"/>
          </a:p>
        </p:txBody>
      </p:sp>
      <p:sp>
        <p:nvSpPr>
          <p:cNvPr id="11" name="Text 7"/>
          <p:cNvSpPr/>
          <p:nvPr/>
        </p:nvSpPr>
        <p:spPr>
          <a:xfrm>
            <a:off x="6161484" y="1401570"/>
            <a:ext cx="2553891" cy="241102"/>
          </a:xfrm>
          <a:prstGeom prst="rect">
            <a:avLst/>
          </a:prstGeom>
          <a:noFill/>
          <a:ln/>
        </p:spPr>
        <p:txBody>
          <a:bodyPr wrap="square" lIns="0" tIns="0" rIns="0" bIns="85090" rtlCol="0" anchor="t">
            <a:spAutoFit/>
          </a:bodyPr>
          <a:lstStyle/>
          <a:p>
            <a:pPr algn="l" indent="0" marL="0">
              <a:lnSpc>
                <a:spcPts val="1100"/>
              </a:lnSpc>
              <a:buNone/>
            </a:pPr>
            <a:r>
              <a:rPr lang="en-US" sz="784" b="1" dirty="0">
                <a:solidFill>
                  <a:srgbClr val="1A1A1A"/>
                </a:solidFill>
              </a:rPr>
              <a:t>For Producers of IT</a:t>
            </a:r>
            <a:endParaRPr lang="en-US" sz="784" dirty="0"/>
          </a:p>
        </p:txBody>
      </p:sp>
      <p:sp>
        <p:nvSpPr>
          <p:cNvPr id="12" name="Text 8"/>
          <p:cNvSpPr/>
          <p:nvPr/>
        </p:nvSpPr>
        <p:spPr>
          <a:xfrm>
            <a:off x="6161484" y="1749828"/>
            <a:ext cx="2553891" cy="140001"/>
          </a:xfrm>
          <a:prstGeom prst="rect">
            <a:avLst/>
          </a:prstGeom>
          <a:noFill/>
          <a:ln/>
        </p:spPr>
        <p:txBody>
          <a:bodyPr wrap="none" lIns="170053" tIns="0" rIns="0" bIns="0" rtlCol="0" anchor="t">
            <a:spAutoFit/>
          </a:bodyPr>
          <a:lstStyle/>
          <a:p>
            <a:pPr algn="l" indent="0" marL="0">
              <a:lnSpc>
                <a:spcPts val="1100"/>
              </a:lnSpc>
              <a:buNone/>
            </a:pPr>
            <a:r>
              <a:rPr lang="en-US" sz="727" dirty="0">
                <a:solidFill>
                  <a:srgbClr val="333333"/>
                </a:solidFill>
              </a:rPr>
              <a:t>Increased IT Predictability &amp; Efficiency</a:t>
            </a:r>
            <a:endParaRPr lang="en-US" sz="727" dirty="0"/>
          </a:p>
        </p:txBody>
      </p:sp>
      <p:sp>
        <p:nvSpPr>
          <p:cNvPr id="13" name="Text 9"/>
          <p:cNvSpPr/>
          <p:nvPr/>
        </p:nvSpPr>
        <p:spPr>
          <a:xfrm>
            <a:off x="6161484" y="1975554"/>
            <a:ext cx="2553891" cy="140001"/>
          </a:xfrm>
          <a:prstGeom prst="rect">
            <a:avLst/>
          </a:prstGeom>
          <a:noFill/>
          <a:ln/>
        </p:spPr>
        <p:txBody>
          <a:bodyPr wrap="none" lIns="170053" tIns="0" rIns="0" bIns="0" rtlCol="0" anchor="t">
            <a:spAutoFit/>
          </a:bodyPr>
          <a:lstStyle/>
          <a:p>
            <a:pPr algn="l" indent="0" marL="0">
              <a:lnSpc>
                <a:spcPts val="1100"/>
              </a:lnSpc>
              <a:buNone/>
            </a:pPr>
            <a:r>
              <a:rPr lang="en-US" sz="727" dirty="0">
                <a:solidFill>
                  <a:srgbClr val="333333"/>
                </a:solidFill>
              </a:rPr>
              <a:t>Faster Problem Resolution</a:t>
            </a:r>
            <a:endParaRPr lang="en-US" sz="727" dirty="0"/>
          </a:p>
        </p:txBody>
      </p:sp>
      <p:sp>
        <p:nvSpPr>
          <p:cNvPr id="14" name="Text 10"/>
          <p:cNvSpPr/>
          <p:nvPr/>
        </p:nvSpPr>
        <p:spPr>
          <a:xfrm>
            <a:off x="6161484" y="2201280"/>
            <a:ext cx="2553891" cy="140001"/>
          </a:xfrm>
          <a:prstGeom prst="rect">
            <a:avLst/>
          </a:prstGeom>
          <a:noFill/>
          <a:ln/>
        </p:spPr>
        <p:txBody>
          <a:bodyPr wrap="none" lIns="170053" tIns="0" rIns="0" bIns="0" rtlCol="0" anchor="t">
            <a:spAutoFit/>
          </a:bodyPr>
          <a:lstStyle/>
          <a:p>
            <a:pPr algn="l" indent="0" marL="0">
              <a:lnSpc>
                <a:spcPts val="1100"/>
              </a:lnSpc>
              <a:buNone/>
            </a:pPr>
            <a:r>
              <a:rPr lang="en-US" sz="727" dirty="0">
                <a:solidFill>
                  <a:srgbClr val="333333"/>
                </a:solidFill>
              </a:rPr>
              <a:t>Reduced Operational Costs</a:t>
            </a:r>
            <a:endParaRPr lang="en-US" sz="727" dirty="0"/>
          </a:p>
        </p:txBody>
      </p:sp>
      <p:sp>
        <p:nvSpPr>
          <p:cNvPr id="15" name="Text 11"/>
          <p:cNvSpPr/>
          <p:nvPr/>
        </p:nvSpPr>
        <p:spPr>
          <a:xfrm>
            <a:off x="6161484" y="1749828"/>
            <a:ext cx="57150" cy="159981"/>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4500"/>
                </a:solidFill>
              </a:rPr>
              <a:t>▸</a:t>
            </a:r>
            <a:endParaRPr lang="en-US" sz="834" dirty="0"/>
          </a:p>
        </p:txBody>
      </p:sp>
      <p:sp>
        <p:nvSpPr>
          <p:cNvPr id="16" name="Text 12"/>
          <p:cNvSpPr/>
          <p:nvPr/>
        </p:nvSpPr>
        <p:spPr>
          <a:xfrm>
            <a:off x="6161484" y="1975554"/>
            <a:ext cx="57150" cy="159981"/>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4500"/>
                </a:solidFill>
              </a:rPr>
              <a:t>▸</a:t>
            </a:r>
            <a:endParaRPr lang="en-US" sz="834" dirty="0"/>
          </a:p>
        </p:txBody>
      </p:sp>
      <p:sp>
        <p:nvSpPr>
          <p:cNvPr id="17" name="Text 13"/>
          <p:cNvSpPr/>
          <p:nvPr/>
        </p:nvSpPr>
        <p:spPr>
          <a:xfrm>
            <a:off x="6161484" y="2201280"/>
            <a:ext cx="57150" cy="159981"/>
          </a:xfrm>
          <a:prstGeom prst="rect">
            <a:avLst/>
          </a:prstGeom>
          <a:noFill/>
          <a:ln/>
        </p:spPr>
        <p:txBody>
          <a:bodyPr wrap="none" lIns="0" tIns="0" rIns="0" bIns="0" rtlCol="0" anchor="t">
            <a:spAutoFit/>
          </a:bodyPr>
          <a:lstStyle/>
          <a:p>
            <a:pPr algn="l" indent="0" marL="0">
              <a:lnSpc>
                <a:spcPts val="1300"/>
              </a:lnSpc>
              <a:buNone/>
            </a:pPr>
            <a:r>
              <a:rPr lang="en-US" sz="834" dirty="0">
                <a:solidFill>
                  <a:srgbClr val="FF4500"/>
                </a:solidFill>
              </a:rPr>
              <a:t>▸</a:t>
            </a:r>
            <a:endParaRPr lang="en-US" sz="834" dirty="0"/>
          </a:p>
        </p:txBody>
      </p:sp>
      <p:sp>
        <p:nvSpPr>
          <p:cNvPr id="18" name="Text 14"/>
          <p:cNvSpPr/>
          <p:nvPr/>
        </p:nvSpPr>
        <p:spPr>
          <a:xfrm>
            <a:off x="3429000" y="3155668"/>
            <a:ext cx="5286375"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1A1A"/>
                </a:solidFill>
              </a:rPr>
              <a:t>Key Takeaways</a:t>
            </a:r>
            <a:endParaRPr lang="en-US" sz="784" dirty="0"/>
          </a:p>
        </p:txBody>
      </p:sp>
      <p:sp>
        <p:nvSpPr>
          <p:cNvPr id="19" name="Text 15"/>
          <p:cNvSpPr/>
          <p:nvPr/>
        </p:nvSpPr>
        <p:spPr>
          <a:xfrm>
            <a:off x="3429000" y="3418201"/>
            <a:ext cx="5286375" cy="140001"/>
          </a:xfrm>
          <a:prstGeom prst="rect">
            <a:avLst/>
          </a:prstGeom>
          <a:noFill/>
          <a:ln/>
        </p:spPr>
        <p:txBody>
          <a:bodyPr wrap="none" lIns="170053" tIns="0" rIns="0" bIns="0" rtlCol="0" anchor="t">
            <a:spAutoFit/>
          </a:bodyPr>
          <a:lstStyle/>
          <a:p>
            <a:pPr algn="l" indent="0" marL="0">
              <a:lnSpc>
                <a:spcPts val="1100"/>
              </a:lnSpc>
              <a:buNone/>
            </a:pPr>
            <a:r>
              <a:rPr lang="en-US" sz="727" dirty="0">
                <a:solidFill>
                  <a:srgbClr val="333333"/>
                </a:solidFill>
              </a:rPr>
              <a:t>ITOps is the backbone of your IT, but it's facing unprecedented challenges.</a:t>
            </a:r>
            <a:endParaRPr lang="en-US" sz="727" dirty="0"/>
          </a:p>
        </p:txBody>
      </p:sp>
      <p:sp>
        <p:nvSpPr>
          <p:cNvPr id="20" name="Text 16"/>
          <p:cNvSpPr/>
          <p:nvPr/>
        </p:nvSpPr>
        <p:spPr>
          <a:xfrm>
            <a:off x="3429000" y="3643926"/>
            <a:ext cx="5286375" cy="140001"/>
          </a:xfrm>
          <a:prstGeom prst="rect">
            <a:avLst/>
          </a:prstGeom>
          <a:noFill/>
          <a:ln/>
        </p:spPr>
        <p:txBody>
          <a:bodyPr wrap="none" lIns="170053" tIns="0" rIns="0" bIns="0" rtlCol="0" anchor="t">
            <a:spAutoFit/>
          </a:bodyPr>
          <a:lstStyle/>
          <a:p>
            <a:pPr algn="l" indent="0" marL="0">
              <a:lnSpc>
                <a:spcPts val="1100"/>
              </a:lnSpc>
              <a:buNone/>
            </a:pPr>
            <a:r>
              <a:rPr lang="en-US" sz="727" dirty="0">
                <a:solidFill>
                  <a:srgbClr val="333333"/>
                </a:solidFill>
              </a:rPr>
              <a:t>AIOps is the key to overcoming these challenges and transforming IT operations.</a:t>
            </a:r>
            <a:endParaRPr lang="en-US" sz="727" dirty="0"/>
          </a:p>
        </p:txBody>
      </p:sp>
      <p:sp>
        <p:nvSpPr>
          <p:cNvPr id="21" name="Text 17"/>
          <p:cNvSpPr/>
          <p:nvPr/>
        </p:nvSpPr>
        <p:spPr>
          <a:xfrm>
            <a:off x="3429000" y="3869652"/>
            <a:ext cx="5286375" cy="140001"/>
          </a:xfrm>
          <a:prstGeom prst="rect">
            <a:avLst/>
          </a:prstGeom>
          <a:noFill/>
          <a:ln/>
        </p:spPr>
        <p:txBody>
          <a:bodyPr wrap="none" lIns="170053" tIns="0" rIns="0" bIns="0" rtlCol="0" anchor="t">
            <a:spAutoFit/>
          </a:bodyPr>
          <a:lstStyle/>
          <a:p>
            <a:pPr algn="l" indent="0" marL="0">
              <a:lnSpc>
                <a:spcPts val="1100"/>
              </a:lnSpc>
              <a:buNone/>
            </a:pPr>
            <a:r>
              <a:rPr lang="en-US" sz="727" dirty="0">
                <a:solidFill>
                  <a:srgbClr val="333333"/>
                </a:solidFill>
              </a:rPr>
              <a:t>The benefits of AIOps are real and can be realized today.</a:t>
            </a:r>
            <a:endParaRPr lang="en-US" sz="727" dirty="0"/>
          </a:p>
        </p:txBody>
      </p:sp>
      <p:sp>
        <p:nvSpPr>
          <p:cNvPr id="22" name="Text 18"/>
          <p:cNvSpPr/>
          <p:nvPr/>
        </p:nvSpPr>
        <p:spPr>
          <a:xfrm>
            <a:off x="3429000" y="4238253"/>
            <a:ext cx="5286375" cy="303609"/>
          </a:xfrm>
          <a:prstGeom prst="rect">
            <a:avLst/>
          </a:prstGeom>
          <a:noFill/>
          <a:ln/>
        </p:spPr>
        <p:txBody>
          <a:bodyPr wrap="square" lIns="0" tIns="170053" rIns="0" bIns="0" rtlCol="0" anchor="t">
            <a:spAutoFit/>
          </a:bodyPr>
          <a:lstStyle/>
          <a:p>
            <a:pPr algn="l" indent="0" marL="0">
              <a:lnSpc>
                <a:spcPts val="1000"/>
              </a:lnSpc>
              <a:buNone/>
            </a:pPr>
            <a:r>
              <a:rPr lang="en-US" sz="734" b="1" dirty="0">
                <a:solidFill>
                  <a:srgbClr val="FF4500"/>
                </a:solidFill>
              </a:rPr>
              <a:t>Start Your AIOps Journey Today</a:t>
            </a:r>
            <a:endParaRPr lang="en-US" sz="734" dirty="0"/>
          </a:p>
        </p:txBody>
      </p:sp>
      <p:sp>
        <p:nvSpPr>
          <p:cNvPr id="23" name="Text 19"/>
          <p:cNvSpPr/>
          <p:nvPr/>
        </p:nvSpPr>
        <p:spPr>
          <a:xfrm>
            <a:off x="3429000" y="3418201"/>
            <a:ext cx="82628" cy="159981"/>
          </a:xfrm>
          <a:prstGeom prst="rect">
            <a:avLst/>
          </a:prstGeom>
          <a:noFill/>
          <a:ln/>
        </p:spPr>
        <p:txBody>
          <a:bodyPr wrap="none" lIns="0" tIns="0" rIns="0" bIns="0" rtlCol="0" anchor="t">
            <a:spAutoFit/>
          </a:bodyPr>
          <a:lstStyle/>
          <a:p>
            <a:pPr algn="l" indent="0" marL="0">
              <a:lnSpc>
                <a:spcPts val="1300"/>
              </a:lnSpc>
              <a:buNone/>
            </a:pPr>
            <a:r>
              <a:rPr lang="en-US" sz="784" b="1" dirty="0">
                <a:solidFill>
                  <a:srgbClr val="0052CC"/>
                </a:solidFill>
              </a:rPr>
              <a:t>✓</a:t>
            </a:r>
            <a:endParaRPr lang="en-US" sz="784" dirty="0"/>
          </a:p>
        </p:txBody>
      </p:sp>
      <p:sp>
        <p:nvSpPr>
          <p:cNvPr id="24" name="Text 20"/>
          <p:cNvSpPr/>
          <p:nvPr/>
        </p:nvSpPr>
        <p:spPr>
          <a:xfrm>
            <a:off x="3429000" y="3643926"/>
            <a:ext cx="82628" cy="159981"/>
          </a:xfrm>
          <a:prstGeom prst="rect">
            <a:avLst/>
          </a:prstGeom>
          <a:noFill/>
          <a:ln/>
        </p:spPr>
        <p:txBody>
          <a:bodyPr wrap="none" lIns="0" tIns="0" rIns="0" bIns="0" rtlCol="0" anchor="t">
            <a:spAutoFit/>
          </a:bodyPr>
          <a:lstStyle/>
          <a:p>
            <a:pPr algn="l" indent="0" marL="0">
              <a:lnSpc>
                <a:spcPts val="1300"/>
              </a:lnSpc>
              <a:buNone/>
            </a:pPr>
            <a:r>
              <a:rPr lang="en-US" sz="784" b="1" dirty="0">
                <a:solidFill>
                  <a:srgbClr val="0052CC"/>
                </a:solidFill>
              </a:rPr>
              <a:t>✓</a:t>
            </a:r>
            <a:endParaRPr lang="en-US" sz="784" dirty="0"/>
          </a:p>
        </p:txBody>
      </p:sp>
      <p:sp>
        <p:nvSpPr>
          <p:cNvPr id="25" name="Text 21"/>
          <p:cNvSpPr/>
          <p:nvPr/>
        </p:nvSpPr>
        <p:spPr>
          <a:xfrm>
            <a:off x="3429000" y="3869652"/>
            <a:ext cx="82628" cy="159981"/>
          </a:xfrm>
          <a:prstGeom prst="rect">
            <a:avLst/>
          </a:prstGeom>
          <a:noFill/>
          <a:ln/>
        </p:spPr>
        <p:txBody>
          <a:bodyPr wrap="none" lIns="0" tIns="0" rIns="0" bIns="0" rtlCol="0" anchor="t">
            <a:spAutoFit/>
          </a:bodyPr>
          <a:lstStyle/>
          <a:p>
            <a:pPr algn="l" indent="0" marL="0">
              <a:lnSpc>
                <a:spcPts val="1300"/>
              </a:lnSpc>
              <a:buNone/>
            </a:pPr>
            <a:r>
              <a:rPr lang="en-US" sz="784" b="1" dirty="0">
                <a:solidFill>
                  <a:srgbClr val="0052CC"/>
                </a:solidFill>
              </a:rPr>
              <a:t>✓</a:t>
            </a:r>
            <a:endParaRPr lang="en-US" sz="7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2025-12-22T16:24:12Z</dcterms:created>
  <dcterms:modified xsi:type="dcterms:W3CDTF">2025-12-22T16:24:12Z</dcterms:modified>
</cp:coreProperties>
</file>